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media/image3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100" d="100"/>
          <a:sy n="100" d="100"/>
        </p:scale>
        <p:origin x="1194" y="72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gal / 100 mm</c:v>
                </c:pt>
              </c:strCache>
            </c:strRef>
          </c:tx>
          <c:spPr>
            <a:solidFill>
              <a:srgbClr val="E8590C"/>
            </a:solidFill>
          </c:spPr>
          <c:cat>
            <c:strRef>
              <c:f>Sheet1!$A$2:$A$6</c:f>
              <c:strCache>
                <c:ptCount val="5"/>
                <c:pt idx="0">
                  <c:v>Caja posterior superior (P1)</c:v>
                </c:pt>
                <c:pt idx="1">
                  <c:v>Inferior / superior, huella actual (P1, P2)</c:v>
                </c:pt>
                <c:pt idx="2">
                  <c:v>Lateral exterior (P4)</c:v>
                </c:pt>
                <c:pt idx="3">
                  <c:v>Superior, huella ampliada (P3)</c:v>
                </c:pt>
                <c:pt idx="4">
                  <c:v>Posterior, envolvente OEM (P3, P4)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29.7</c:v>
                </c:pt>
                <c:pt idx="1">
                  <c:v>67.5</c:v>
                </c:pt>
                <c:pt idx="2">
                  <c:v>73.6</c:v>
                </c:pt>
                <c:pt idx="3">
                  <c:v>75.7</c:v>
                </c:pt>
                <c:pt idx="4">
                  <c:v>82.5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ED4DA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1B222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Capacidad útil (gal)</c:v>
                </c:pt>
              </c:strCache>
            </c:strRef>
          </c:tx>
          <c:dPt>
            <c:idx val="0"/>
            <c:spPr>
              <a:solidFill>
                <a:srgbClr val="ADB5BD"/>
              </a:solidFill>
            </c:spPr>
          </c:dPt>
          <c:dPt>
            <c:idx val="1"/>
            <c:spPr>
              <a:solidFill>
                <a:srgbClr val="ADB5BD"/>
              </a:solidFill>
            </c:spPr>
          </c:dPt>
          <c:dPt>
            <c:idx val="2"/>
            <c:spPr>
              <a:solidFill>
                <a:srgbClr val="E8590C"/>
              </a:solidFill>
            </c:spPr>
          </c:dPt>
          <c:dPt>
            <c:idx val="3"/>
            <c:spPr>
              <a:solidFill>
                <a:srgbClr val="E8590C"/>
              </a:solidFill>
            </c:spPr>
          </c:dPt>
          <c:dPt>
            <c:idx val="4"/>
            <c:spPr>
              <a:solidFill>
                <a:srgbClr val="13099A"/>
              </a:solidFill>
            </c:spPr>
          </c:dPt>
          <c:dPt>
            <c:idx val="5"/>
            <c:spPr>
              <a:solidFill>
                <a:srgbClr val="E8590C"/>
              </a:solidFill>
            </c:spPr>
          </c:dPt>
          <c:cat>
            <c:strRef>
              <c:f>Sheet1!$A$2:$A$7</c:f>
              <c:strCache>
                <c:ptCount val="6"/>
                <c:pt idx="0">
                  <c:v>Actual</c:v>
                </c:pt>
                <c:pt idx="1">
                  <c:v>OEM</c:v>
                </c:pt>
                <c:pt idx="2">
                  <c:v>P1</c:v>
                </c:pt>
                <c:pt idx="3">
                  <c:v>P2</c:v>
                </c:pt>
                <c:pt idx="4">
                  <c:v>P3</c:v>
                </c:pt>
                <c:pt idx="5">
                  <c:v>P4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1416</c:v>
                </c:pt>
                <c:pt idx="1">
                  <c:v>1585</c:v>
                </c:pt>
                <c:pt idx="2">
                  <c:v>1695</c:v>
                </c:pt>
                <c:pt idx="3">
                  <c:v>1720</c:v>
                </c:pt>
                <c:pt idx="4">
                  <c:v>1707</c:v>
                </c:pt>
                <c:pt idx="5">
                  <c:v>1705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ED4DA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800.0"/>
          <c:min val="1200.0"/>
        </c:scaling>
        <c:delete val="0"/>
        <c:axPos val="l"/>
        <c:majorGridlines>
          <c:spPr>
            <a:ln>
              <a:solidFill>
                <a:srgbClr val="E9ECEF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  <c:majorUnit val="100.0"/>
      </c:valAx>
    </c:plotArea>
    <c:dispBlanksAs val="gap"/>
  </c:chart>
  <c:txPr>
    <a:bodyPr/>
    <a:lstStyle/>
    <a:p>
      <a:pPr>
        <a:defRPr sz="1000">
          <a:solidFill>
            <a:srgbClr val="1B222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81572" y="553415"/>
            <a:ext cx="2505961" cy="469076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922134" y="4486960"/>
            <a:ext cx="1767713" cy="26121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663445" y="1311351"/>
            <a:ext cx="4494530" cy="139255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13099A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Komatsu</a:t>
            </a:r>
            <a:r>
              <a:rPr spc="-35" dirty="0"/>
              <a:t> </a:t>
            </a:r>
            <a:r>
              <a:rPr dirty="0"/>
              <a:t>-</a:t>
            </a:r>
            <a:r>
              <a:rPr spc="-10" dirty="0"/>
              <a:t> </a:t>
            </a:r>
            <a:r>
              <a:rPr dirty="0"/>
              <a:t>Mitsui </a:t>
            </a:r>
            <a:r>
              <a:rPr spc="-10" dirty="0"/>
              <a:t>Maquinarias</a:t>
            </a:r>
            <a:r>
              <a:rPr dirty="0"/>
              <a:t> Perú</a:t>
            </a:r>
            <a:r>
              <a:rPr spc="-10" dirty="0"/>
              <a:t> </a:t>
            </a:r>
            <a:r>
              <a:rPr spc="-20" dirty="0"/>
              <a:t>S.A.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13099A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</a:pPr>
            <a:fld id="{81D60167-4931-47E6-BA6A-407CBD079E47}" type="slidenum">
              <a:rPr spc="-25" dirty="0"/>
              <a:t>‹Nº›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13099A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Komatsu</a:t>
            </a:r>
            <a:r>
              <a:rPr spc="-35" dirty="0"/>
              <a:t> </a:t>
            </a:r>
            <a:r>
              <a:rPr dirty="0"/>
              <a:t>-</a:t>
            </a:r>
            <a:r>
              <a:rPr spc="-10" dirty="0"/>
              <a:t> </a:t>
            </a:r>
            <a:r>
              <a:rPr dirty="0"/>
              <a:t>Mitsui </a:t>
            </a:r>
            <a:r>
              <a:rPr spc="-10" dirty="0"/>
              <a:t>Maquinarias</a:t>
            </a:r>
            <a:r>
              <a:rPr dirty="0"/>
              <a:t> Perú</a:t>
            </a:r>
            <a:r>
              <a:rPr spc="-10" dirty="0"/>
              <a:t> </a:t>
            </a:r>
            <a:r>
              <a:rPr spc="-20" dirty="0"/>
              <a:t>S.A.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13099A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</a:pPr>
            <a:fld id="{81D60167-4931-47E6-BA6A-407CBD079E47}" type="slidenum">
              <a:rPr spc="-25" dirty="0"/>
              <a:t>‹Nº›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13099A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Komatsu</a:t>
            </a:r>
            <a:r>
              <a:rPr spc="-35" dirty="0"/>
              <a:t> </a:t>
            </a:r>
            <a:r>
              <a:rPr dirty="0"/>
              <a:t>-</a:t>
            </a:r>
            <a:r>
              <a:rPr spc="-10" dirty="0"/>
              <a:t> </a:t>
            </a:r>
            <a:r>
              <a:rPr dirty="0"/>
              <a:t>Mitsui </a:t>
            </a:r>
            <a:r>
              <a:rPr spc="-10" dirty="0"/>
              <a:t>Maquinarias</a:t>
            </a:r>
            <a:r>
              <a:rPr dirty="0"/>
              <a:t> Perú</a:t>
            </a:r>
            <a:r>
              <a:rPr spc="-10" dirty="0"/>
              <a:t> </a:t>
            </a:r>
            <a:r>
              <a:rPr spc="-20" dirty="0"/>
              <a:t>S.A.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10/11/2026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13099A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</a:pPr>
            <a:fld id="{81D60167-4931-47E6-BA6A-407CBD079E47}" type="slidenum">
              <a:rPr spc="-25" dirty="0"/>
              <a:t>‹Nº›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13099A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Komatsu</a:t>
            </a:r>
            <a:r>
              <a:rPr spc="-35" dirty="0"/>
              <a:t> </a:t>
            </a:r>
            <a:r>
              <a:rPr dirty="0"/>
              <a:t>-</a:t>
            </a:r>
            <a:r>
              <a:rPr spc="-10" dirty="0"/>
              <a:t> </a:t>
            </a:r>
            <a:r>
              <a:rPr dirty="0"/>
              <a:t>Mitsui </a:t>
            </a:r>
            <a:r>
              <a:rPr spc="-10" dirty="0"/>
              <a:t>Maquinarias</a:t>
            </a:r>
            <a:r>
              <a:rPr dirty="0"/>
              <a:t> Perú</a:t>
            </a:r>
            <a:r>
              <a:rPr spc="-10" dirty="0"/>
              <a:t> </a:t>
            </a:r>
            <a:r>
              <a:rPr spc="-20" dirty="0"/>
              <a:t>S.A.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10/11/2026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13099A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</a:pPr>
            <a:fld id="{81D60167-4931-47E6-BA6A-407CBD079E47}" type="slidenum">
              <a:rPr spc="-25" dirty="0"/>
              <a:t>‹Nº›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13099A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Komatsu</a:t>
            </a:r>
            <a:r>
              <a:rPr spc="-35" dirty="0"/>
              <a:t> </a:t>
            </a:r>
            <a:r>
              <a:rPr dirty="0"/>
              <a:t>-</a:t>
            </a:r>
            <a:r>
              <a:rPr spc="-10" dirty="0"/>
              <a:t> </a:t>
            </a:r>
            <a:r>
              <a:rPr dirty="0"/>
              <a:t>Mitsui </a:t>
            </a:r>
            <a:r>
              <a:rPr spc="-10" dirty="0"/>
              <a:t>Maquinarias</a:t>
            </a:r>
            <a:r>
              <a:rPr dirty="0"/>
              <a:t> Perú</a:t>
            </a:r>
            <a:r>
              <a:rPr spc="-10" dirty="0"/>
              <a:t> </a:t>
            </a:r>
            <a:r>
              <a:rPr spc="-20" dirty="0"/>
              <a:t>S.A.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13099A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</a:pPr>
            <a:fld id="{81D60167-4931-47E6-BA6A-407CBD079E47}" type="slidenum">
              <a:rPr spc="-25" dirty="0"/>
              <a:t>‹Nº›</a:t>
            </a:fld>
            <a:endParaRPr spc="-25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Relationship Id="rId8" Type="http://schemas.openxmlformats.org/officeDocument/2006/relationships/image" Target="../media/image2.png"/><Relationship Id="rId9" Type="http://schemas.openxmlformats.org/officeDocument/2006/relationships/image" Target="../media/image3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540004"/>
            <a:ext cx="9144000" cy="0"/>
          </a:xfrm>
          <a:custGeom>
            <a:avLst/>
            <a:gdLst/>
            <a:ahLst/>
            <a:cxnLst/>
            <a:rect l="l" t="t" r="r" b="b"/>
            <a:pathLst>
              <a:path w="9144000">
                <a:moveTo>
                  <a:pt x="0" y="0"/>
                </a:moveTo>
                <a:lnTo>
                  <a:pt x="9144000" y="0"/>
                </a:lnTo>
              </a:path>
            </a:pathLst>
          </a:custGeom>
          <a:ln w="6350">
            <a:solidFill>
              <a:srgbClr val="13099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0"/>
            <a:ext cx="9144000" cy="540385"/>
          </a:xfrm>
          <a:custGeom>
            <a:avLst/>
            <a:gdLst/>
            <a:ahLst/>
            <a:cxnLst/>
            <a:rect l="l" t="t" r="r" b="b"/>
            <a:pathLst>
              <a:path w="9144000" h="540385">
                <a:moveTo>
                  <a:pt x="9144000" y="0"/>
                </a:moveTo>
                <a:lnTo>
                  <a:pt x="0" y="0"/>
                </a:lnTo>
                <a:lnTo>
                  <a:pt x="0" y="540003"/>
                </a:lnTo>
                <a:lnTo>
                  <a:pt x="9144000" y="540003"/>
                </a:lnTo>
                <a:lnTo>
                  <a:pt x="9144000" y="0"/>
                </a:lnTo>
                <a:close/>
              </a:path>
            </a:pathLst>
          </a:custGeom>
          <a:solidFill>
            <a:srgbClr val="13099A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8" name="bg object 1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92916" y="4838461"/>
            <a:ext cx="876999" cy="165671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259244" y="4828369"/>
            <a:ext cx="404721" cy="236205"/>
          </a:xfrm>
          <a:prstGeom prst="rect">
            <a:avLst/>
          </a:prstGeom>
        </p:spPr>
      </p:pic>
      <p:pic>
        <p:nvPicPr>
          <p:cNvPr id="20" name="bg object 20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91973" y="4815864"/>
            <a:ext cx="1767713" cy="26121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2948" y="102565"/>
            <a:ext cx="6046165" cy="35552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397871" y="1034262"/>
            <a:ext cx="7784465" cy="14846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176517" y="4898332"/>
            <a:ext cx="2266950" cy="1670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0" i="0">
                <a:solidFill>
                  <a:srgbClr val="13099A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Komatsu</a:t>
            </a:r>
            <a:r>
              <a:rPr spc="-35" dirty="0"/>
              <a:t> </a:t>
            </a:r>
            <a:r>
              <a:rPr dirty="0"/>
              <a:t>-</a:t>
            </a:r>
            <a:r>
              <a:rPr spc="-10" dirty="0"/>
              <a:t> </a:t>
            </a:r>
            <a:r>
              <a:rPr dirty="0"/>
              <a:t>Mitsui </a:t>
            </a:r>
            <a:r>
              <a:rPr spc="-10" dirty="0"/>
              <a:t>Maquinarias</a:t>
            </a:r>
            <a:r>
              <a:rPr dirty="0"/>
              <a:t> Perú</a:t>
            </a:r>
            <a:r>
              <a:rPr spc="-10" dirty="0"/>
              <a:t> </a:t>
            </a:r>
            <a:r>
              <a:rPr spc="-20" dirty="0"/>
              <a:t>S.A.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86876" y="4896808"/>
            <a:ext cx="280670" cy="1670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0" i="0">
                <a:solidFill>
                  <a:srgbClr val="13099A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</a:pPr>
            <a:fld id="{81D60167-4931-47E6-BA6A-407CBD079E47}" type="slidenum">
              <a:rPr spc="-25" dirty="0"/>
              <a:t>‹Nº›</a:t>
            </a:fld>
            <a:endParaRPr spc="-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67945" rIns="0" bIns="0" rtlCol="0">
            <a:spAutoFit/>
          </a:bodyPr>
          <a:lstStyle/>
          <a:p>
            <a:pPr marL="12700" marR="5080">
              <a:lnSpc>
                <a:spcPts val="3460"/>
              </a:lnSpc>
              <a:spcBef>
                <a:spcPts val="535"/>
              </a:spcBef>
            </a:pPr>
            <a:r>
              <a:rPr sz="2800" b="0" dirty="0">
                <a:solidFill>
                  <a:srgbClr val="13099A"/>
                </a:solidFill>
                <a:latin typeface="Arial"/>
                <a:cs typeface="Arial"/>
              </a:rPr>
              <a:t>Ampliación del Tanque</a:t>
            </a:r>
            <a:endParaRPr sz="3200">
              <a:latin typeface="Arial"/>
              <a:cs typeface="Arial"/>
            </a:endParaRPr>
          </a:p>
          <a:p>
            <a:pPr marL="12700" marR="5080">
              <a:lnSpc>
                <a:spcPts val="3460"/>
              </a:lnSpc>
              <a:spcBef>
                <a:spcPts val="535"/>
              </a:spcBef>
            </a:pPr>
            <a:r>
              <a:rPr sz="2800" b="0" dirty="0">
                <a:solidFill>
                  <a:srgbClr val="13099A"/>
                </a:solidFill>
                <a:latin typeface="Arial"/>
                <a:cs typeface="Arial"/>
              </a:rPr>
              <a:t>de Combustible 980E–5</a:t>
            </a:r>
          </a:p>
          <a:p>
            <a:pPr marL="12700" marR="5080">
              <a:lnSpc>
                <a:spcPts val="3460"/>
              </a:lnSpc>
              <a:spcBef>
                <a:spcPts val="535"/>
              </a:spcBef>
            </a:pPr>
            <a:r>
              <a:rPr sz="2800" b="0" dirty="0">
                <a:solidFill>
                  <a:srgbClr val="E8590C"/>
                </a:solidFill>
                <a:latin typeface="Arial"/>
                <a:cs typeface="Arial"/>
              </a:rPr>
              <a:t>Meta: 1,700 gal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663445" y="3304413"/>
            <a:ext cx="4114800" cy="818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20" dirty="0">
                <a:solidFill>
                  <a:srgbClr val="1B222A"/>
                </a:solidFill>
                <a:latin typeface="Arial"/>
                <a:cs typeface="Arial"/>
              </a:rPr>
              <a:t>Toromocho</a:t>
            </a:r>
            <a:endParaRPr sz="2400">
              <a:latin typeface="Arial"/>
              <a:cs typeface="Arial"/>
            </a:endParaRPr>
          </a:p>
          <a:p>
            <a:pPr marL="48260">
              <a:lnSpc>
                <a:spcPct val="100000"/>
              </a:lnSpc>
              <a:spcBef>
                <a:spcPts val="1920"/>
              </a:spcBef>
            </a:pPr>
            <a:r>
              <a:rPr sz="1200" b="1" dirty="0">
                <a:solidFill>
                  <a:srgbClr val="1B222A"/>
                </a:solidFill>
                <a:latin typeface="Arial"/>
                <a:cs typeface="Arial"/>
              </a:rPr>
              <a:t>Propuestas de ingeniería · Octubre 2026</a:t>
            </a:r>
            <a:r>
              <a:rPr sz="1200" b="1" spc="-35" dirty="0">
                <a:solidFill>
                  <a:srgbClr val="1B222A"/>
                </a:solidFill>
                <a:latin typeface="Arial"/>
                <a:cs typeface="Arial"/>
              </a:rPr>
              <a:t/>
            </a:r>
            <a:r>
              <a:rPr sz="1200" b="1" spc="-20" dirty="0">
                <a:solidFill>
                  <a:srgbClr val="1B222A"/>
                </a:solidFill>
                <a:latin typeface="Arial"/>
                <a:cs typeface="Arial"/>
              </a:rPr>
              <a:t/>
            </a:r>
            <a:endParaRPr sz="1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8915400" cy="0"/>
          </a:xfrm>
        </p:spPr>
        <p:txBody>
          <a:bodyPr/>
          <a:lstStyle/>
          <a:p>
            <a:r>
              <a:t>Resumen ejecutivo: 4 propuestas alcanzan ~1,700 gal útiles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Komatsu</a:t>
            </a:r>
            <a:r>
              <a:rPr spc="-35" dirty="0"/>
              <a:t> </a:t>
            </a:r>
            <a:r>
              <a:rPr dirty="0"/>
              <a:t>-</a:t>
            </a:r>
            <a:r>
              <a:rPr spc="-10" dirty="0"/>
              <a:t> </a:t>
            </a:r>
            <a:r>
              <a:rPr dirty="0"/>
              <a:t>Mitsui </a:t>
            </a:r>
            <a:r>
              <a:rPr spc="-10" dirty="0"/>
              <a:t>Maquinarias</a:t>
            </a:r>
            <a:r>
              <a:rPr dirty="0"/>
              <a:t> Perú</a:t>
            </a:r>
            <a:r>
              <a:rPr spc="-10" dirty="0"/>
              <a:t> </a:t>
            </a:r>
            <a:r>
              <a:rPr spc="-20" dirty="0"/>
              <a:t>S.A.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fld id="{81D60167-4931-47E6-BA6A-407CBD079E47}" type="slidenum">
              <a:rPr spc="-25" dirty="0"/>
              <a:t>2</a:t>
            </a:fld>
            <a:endParaRPr spc="-25" dirty="0"/>
          </a:p>
        </p:txBody>
      </p:sp>
      <p:sp>
        <p:nvSpPr>
          <p:cNvPr id="6" name="KPI 1"/>
          <p:cNvSpPr/>
          <p:nvPr/>
        </p:nvSpPr>
        <p:spPr>
          <a:xfrm>
            <a:off x="365760" y="658368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694944"/>
            <a:ext cx="2377440" cy="4389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5F666D"/>
                </a:solidFill>
                <a:latin typeface="Arial"/>
              </a:rPr>
              <a:t>1,416 gal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15568"/>
            <a:ext cx="2377440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B222A"/>
                </a:solidFill>
                <a:latin typeface="Arial"/>
              </a:rPr>
              <a:t>Capacidad útil actual</a:t>
            </a:r>
          </a:p>
          <a:p>
            <a:pPr algn="l"/>
            <a:r>
              <a:rPr sz="1000" b="0" i="0">
                <a:solidFill>
                  <a:srgbClr val="5F666D"/>
                </a:solidFill>
                <a:latin typeface="Arial"/>
              </a:rPr>
              <a:t>(bruto 1,513 gal, estudio OEM)</a:t>
            </a:r>
          </a:p>
        </p:txBody>
      </p:sp>
      <p:sp>
        <p:nvSpPr>
          <p:cNvPr id="9" name="KPI 2"/>
          <p:cNvSpPr/>
          <p:nvPr/>
        </p:nvSpPr>
        <p:spPr>
          <a:xfrm>
            <a:off x="3200400" y="658368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F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337560" y="694944"/>
            <a:ext cx="2377440" cy="4389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E67700"/>
                </a:solidFill>
                <a:latin typeface="Arial"/>
              </a:rPr>
              <a:t>1,585 gal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115568"/>
            <a:ext cx="2377440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B222A"/>
                </a:solidFill>
                <a:latin typeface="Arial"/>
              </a:rPr>
              <a:t>Propuesta OEM +220 mm posterior</a:t>
            </a:r>
          </a:p>
          <a:p>
            <a:pPr algn="l"/>
            <a:r>
              <a:rPr sz="1000" b="0" i="0">
                <a:solidFill>
                  <a:srgbClr val="5F666D"/>
                </a:solidFill>
                <a:latin typeface="Arial"/>
              </a:rPr>
              <a:t>93% de la meta: no alcanza</a:t>
            </a:r>
          </a:p>
        </p:txBody>
      </p:sp>
      <p:sp>
        <p:nvSpPr>
          <p:cNvPr id="12" name="KPI 3"/>
          <p:cNvSpPr/>
          <p:nvPr/>
        </p:nvSpPr>
        <p:spPr>
          <a:xfrm>
            <a:off x="6035040" y="658368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ECE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172200" y="694944"/>
            <a:ext cx="2377440" cy="4389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13099A"/>
                </a:solidFill>
                <a:latin typeface="Arial"/>
              </a:rPr>
              <a:t>1,700 gal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115568"/>
            <a:ext cx="2377440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B222A"/>
                </a:solidFill>
                <a:latin typeface="Arial"/>
              </a:rPr>
              <a:t>Meta útil</a:t>
            </a:r>
          </a:p>
          <a:p>
            <a:pPr algn="l"/>
            <a:r>
              <a:rPr sz="1000" b="0" i="0">
                <a:solidFill>
                  <a:srgbClr val="5F666D"/>
                </a:solidFill>
                <a:latin typeface="Arial"/>
              </a:rPr>
              <a:t>+20% de autonomía entre recargas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1755648"/>
          <a:ext cx="8412480" cy="1554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22960"/>
                <a:gridCol w="3246120"/>
                <a:gridCol w="1051560"/>
                <a:gridCol w="868680"/>
                <a:gridCol w="1188720"/>
                <a:gridCol w="123444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Propuesta</a:t>
                      </a:r>
                    </a:p>
                  </a:txBody>
                  <a:tcPr marL="45720" marR="45720" marT="18288" marB="18288" anchor="ctr">
                    <a:solidFill>
                      <a:srgbClr val="1309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Tramos añadidos</a:t>
                      </a:r>
                    </a:p>
                  </a:txBody>
                  <a:tcPr marL="45720" marR="45720" marT="18288" marB="18288" anchor="ctr">
                    <a:solidFill>
                      <a:srgbClr val="1309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Cap. útil (gal)</a:t>
                      </a:r>
                    </a:p>
                  </a:txBody>
                  <a:tcPr marL="45720" marR="45720" marT="18288" marB="18288" anchor="ctr">
                    <a:solidFill>
                      <a:srgbClr val="1309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vs actual</a:t>
                      </a:r>
                    </a:p>
                  </a:txBody>
                  <a:tcPr marL="45720" marR="45720" marT="18288" marB="18288" anchor="ctr">
                    <a:solidFill>
                      <a:srgbClr val="1309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Base–piso</a:t>
                      </a:r>
                    </a:p>
                  </a:txBody>
                  <a:tcPr marL="45720" marR="45720" marT="18288" marB="18288" anchor="ctr">
                    <a:solidFill>
                      <a:srgbClr val="1309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Frente</a:t>
                      </a:r>
                    </a:p>
                  </a:txBody>
                  <a:tcPr marL="45720" marR="45720" marT="18288" marB="18288" anchor="ctr">
                    <a:solidFill>
                      <a:srgbClr val="13099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3099A"/>
                          </a:solidFill>
                          <a:latin typeface="Arial"/>
                        </a:rPr>
                        <a:t>P1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22A"/>
                          </a:solidFill>
                          <a:latin typeface="Arial"/>
                        </a:rPr>
                        <a:t>Inferior 300 mm + caja posterior 300 mm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E67700"/>
                          </a:solidFill>
                          <a:latin typeface="Arial"/>
                        </a:rPr>
                        <a:t>1,695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B222A"/>
                          </a:solidFill>
                          <a:latin typeface="Arial"/>
                        </a:rPr>
                        <a:t>+19.7%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C92A2A"/>
                          </a:solidFill>
                          <a:latin typeface="Arial"/>
                        </a:rPr>
                        <a:t>−300 mm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2B8A3E"/>
                          </a:solidFill>
                          <a:latin typeface="Arial"/>
                        </a:rPr>
                        <a:t>Sin cambio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3099A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L="45720" marR="45720" marT="18288" marB="18288" anchor="ctr">
                    <a:solidFill>
                      <a:srgbClr val="F1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22A"/>
                          </a:solidFill>
                          <a:latin typeface="Arial"/>
                        </a:rPr>
                        <a:t>Inferior 300 mm + superior 150 mm</a:t>
                      </a:r>
                    </a:p>
                  </a:txBody>
                  <a:tcPr marL="45720" marR="45720" marT="18288" marB="18288" anchor="ctr">
                    <a:solidFill>
                      <a:srgbClr val="F1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B222A"/>
                          </a:solidFill>
                          <a:latin typeface="Arial"/>
                        </a:rPr>
                        <a:t>1,720</a:t>
                      </a:r>
                    </a:p>
                  </a:txBody>
                  <a:tcPr marL="45720" marR="45720" marT="18288" marB="18288" anchor="ctr">
                    <a:solidFill>
                      <a:srgbClr val="F1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B222A"/>
                          </a:solidFill>
                          <a:latin typeface="Arial"/>
                        </a:rPr>
                        <a:t>+21.5%</a:t>
                      </a:r>
                    </a:p>
                  </a:txBody>
                  <a:tcPr marL="45720" marR="45720" marT="18288" marB="18288" anchor="ctr">
                    <a:solidFill>
                      <a:srgbClr val="F1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C92A2A"/>
                          </a:solidFill>
                          <a:latin typeface="Arial"/>
                        </a:rPr>
                        <a:t>−300 mm</a:t>
                      </a:r>
                    </a:p>
                  </a:txBody>
                  <a:tcPr marL="45720" marR="45720" marT="18288" marB="18288" anchor="ctr">
                    <a:solidFill>
                      <a:srgbClr val="F1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2B8A3E"/>
                          </a:solidFill>
                          <a:latin typeface="Arial"/>
                        </a:rPr>
                        <a:t>Sin cambio</a:t>
                      </a:r>
                    </a:p>
                  </a:txBody>
                  <a:tcPr marL="45720" marR="45720" marT="18288" marB="18288" anchor="ctr">
                    <a:solidFill>
                      <a:srgbClr val="F1F3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3099A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22A"/>
                          </a:solidFill>
                          <a:latin typeface="Arial"/>
                        </a:rPr>
                        <a:t>Posterior 220 mm + superior 160 mm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B222A"/>
                          </a:solidFill>
                          <a:latin typeface="Arial"/>
                        </a:rPr>
                        <a:t>1,707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B222A"/>
                          </a:solidFill>
                          <a:latin typeface="Arial"/>
                        </a:rPr>
                        <a:t>+20.5%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2B8A3E"/>
                          </a:solidFill>
                          <a:latin typeface="Arial"/>
                        </a:rPr>
                        <a:t>Sin cambio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2B8A3E"/>
                          </a:solidFill>
                          <a:latin typeface="Arial"/>
                        </a:rPr>
                        <a:t>Sin cambio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3099A"/>
                          </a:solidFill>
                          <a:latin typeface="Arial"/>
                        </a:rPr>
                        <a:t>P4</a:t>
                      </a:r>
                    </a:p>
                  </a:txBody>
                  <a:tcPr marL="45720" marR="45720" marT="18288" marB="18288" anchor="ctr">
                    <a:solidFill>
                      <a:srgbClr val="F1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B222A"/>
                          </a:solidFill>
                          <a:latin typeface="Arial"/>
                        </a:rPr>
                        <a:t>Posterior 220 mm + lateral exterior 180 mm</a:t>
                      </a:r>
                    </a:p>
                  </a:txBody>
                  <a:tcPr marL="45720" marR="45720" marT="18288" marB="18288" anchor="ctr">
                    <a:solidFill>
                      <a:srgbClr val="F1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B222A"/>
                          </a:solidFill>
                          <a:latin typeface="Arial"/>
                        </a:rPr>
                        <a:t>1,705</a:t>
                      </a:r>
                    </a:p>
                  </a:txBody>
                  <a:tcPr marL="45720" marR="45720" marT="18288" marB="18288" anchor="ctr">
                    <a:solidFill>
                      <a:srgbClr val="F1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B222A"/>
                          </a:solidFill>
                          <a:latin typeface="Arial"/>
                        </a:rPr>
                        <a:t>+20.4%</a:t>
                      </a:r>
                    </a:p>
                  </a:txBody>
                  <a:tcPr marL="45720" marR="45720" marT="18288" marB="18288" anchor="ctr">
                    <a:solidFill>
                      <a:srgbClr val="F1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2B8A3E"/>
                          </a:solidFill>
                          <a:latin typeface="Arial"/>
                        </a:rPr>
                        <a:t>Sin cambio</a:t>
                      </a:r>
                    </a:p>
                  </a:txBody>
                  <a:tcPr marL="45720" marR="45720" marT="18288" marB="18288" anchor="ctr">
                    <a:solidFill>
                      <a:srgbClr val="F1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2B8A3E"/>
                          </a:solidFill>
                          <a:latin typeface="Arial"/>
                        </a:rPr>
                        <a:t>Sin cambio</a:t>
                      </a:r>
                    </a:p>
                  </a:txBody>
                  <a:tcPr marL="45720" marR="45720" marT="18288" marB="18288" anchor="ctr">
                    <a:solidFill>
                      <a:srgbClr val="F1F3F5"/>
                    </a:solidFill>
                  </a:tcPr>
                </a:tc>
              </a:tr>
            </a:tbl>
          </a:graphicData>
        </a:graphic>
      </p:graphicFrame>
      <p:sp>
        <p:nvSpPr>
          <p:cNvPr id="16" name="Recomendación"/>
          <p:cNvSpPr/>
          <p:nvPr/>
        </p:nvSpPr>
        <p:spPr>
          <a:xfrm>
            <a:off x="365760" y="3520440"/>
            <a:ext cx="8412480" cy="1097280"/>
          </a:xfrm>
          <a:prstGeom prst="roundRect">
            <a:avLst>
              <a:gd name="adj" fmla="val 8000"/>
            </a:avLst>
          </a:prstGeom>
          <a:solidFill>
            <a:srgbClr val="ECE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48640" y="3584448"/>
            <a:ext cx="8046720" cy="9875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3099A"/>
                </a:solidFill>
                <a:latin typeface="Arial"/>
              </a:rPr>
              <a:t>Recomendación: P3 </a:t>
            </a:r>
            <a:r>
              <a:rPr sz="1200" b="0" i="0">
                <a:solidFill>
                  <a:srgbClr val="1B222A"/>
                </a:solidFill>
                <a:latin typeface="Arial"/>
              </a:rPr>
              <a:t>— crece solo hacia atrás (dentro de la envolvente ya revisada por OEM) y hacia arriba; no toca el fondo ni el frente.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B222A"/>
                </a:solidFill>
                <a:latin typeface="Arial"/>
              </a:rPr>
              <a:t>P4 es la alternativa si no hay holgura superior. P1 y P2 reducen la altura base–piso en 300 mm (≈1.21 → 0.91 m) y requieren validación adicional.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F666D"/>
                </a:solidFill>
                <a:latin typeface="Arial"/>
              </a:rPr>
              <a:t>Capacidad útil = volumen bruto − volumen bajo pickup − espacio sobre sensor de llenado (criterio del estudio OEM 1400 Gal).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8915400" cy="0"/>
          </a:xfrm>
        </p:spPr>
        <p:txBody>
          <a:bodyPr/>
          <a:lstStyle/>
          <a:p>
            <a:r>
              <a:t>Estado actual del tanque y contexto operacional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Komatsu</a:t>
            </a:r>
            <a:r>
              <a:rPr spc="-35" dirty="0"/>
              <a:t> </a:t>
            </a:r>
            <a:r>
              <a:rPr dirty="0"/>
              <a:t>-</a:t>
            </a:r>
            <a:r>
              <a:rPr spc="-10" dirty="0"/>
              <a:t> </a:t>
            </a:r>
            <a:r>
              <a:rPr dirty="0"/>
              <a:t>Mitsui </a:t>
            </a:r>
            <a:r>
              <a:rPr spc="-10" dirty="0"/>
              <a:t>Maquinarias</a:t>
            </a:r>
            <a:r>
              <a:rPr dirty="0"/>
              <a:t> Perú</a:t>
            </a:r>
            <a:r>
              <a:rPr spc="-10" dirty="0"/>
              <a:t> </a:t>
            </a:r>
            <a:r>
              <a:rPr spc="-20" dirty="0"/>
              <a:t>S.A.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fld id="{81D60167-4931-47E6-BA6A-407CBD079E47}" type="slidenum">
              <a:rPr spc="-25" dirty="0"/>
              <a:t>3</a:t>
            </a:fld>
            <a:endParaRPr spc="-25" dirty="0"/>
          </a:p>
        </p:txBody>
      </p:sp>
      <p:pic>
        <p:nvPicPr>
          <p:cNvPr id="6" name="Picture 5" descr="foto_later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58368"/>
            <a:ext cx="4343400" cy="30024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706506"/>
            <a:ext cx="43434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>
                <a:solidFill>
                  <a:srgbClr val="5F666D"/>
                </a:solidFill>
                <a:latin typeface="Arial"/>
              </a:rPr>
              <a:t>Medición en campo, vista lateral LH: izquierda = llanta posterior, derecha = llanta delantera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892040" y="658368"/>
          <a:ext cx="3886200" cy="296265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08760"/>
                <a:gridCol w="237744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Dato</a:t>
                      </a:r>
                    </a:p>
                  </a:txBody>
                  <a:tcPr marL="45720" marR="45720" marT="18288" marB="18288" anchor="ctr">
                    <a:solidFill>
                      <a:srgbClr val="1309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Valor</a:t>
                      </a:r>
                    </a:p>
                  </a:txBody>
                  <a:tcPr marL="45720" marR="45720" marT="18288" marB="18288" anchor="ctr">
                    <a:solidFill>
                      <a:srgbClr val="13099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Capacidad nominal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1,400 gal (útil 1,416 / bruto 1,513)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Dimensiones exteriores</a:t>
                      </a:r>
                    </a:p>
                  </a:txBody>
                  <a:tcPr marL="45720" marR="45720" marT="18288" marB="18288" anchor="ctr">
                    <a:solidFill>
                      <a:srgbClr val="F1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2,292 ancho × 1,321/1,040 largo × 2,292 alto mm</a:t>
                      </a:r>
                    </a:p>
                  </a:txBody>
                  <a:tcPr marL="45720" marR="45720" marT="18288" marB="18288" anchor="ctr">
                    <a:solidFill>
                      <a:srgbClr val="F1F3F5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Huella interior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2.57 m² → 68 gal por cada 100 mm de altura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Holgura a llanta posterior</a:t>
                      </a:r>
                    </a:p>
                  </a:txBody>
                  <a:tcPr marL="45720" marR="45720" marT="18288" marB="18288" anchor="ctr">
                    <a:solidFill>
                      <a:srgbClr val="F1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900 mm (eje) · 1,650 mm (parte superior)</a:t>
                      </a:r>
                    </a:p>
                  </a:txBody>
                  <a:tcPr marL="45720" marR="45720" marT="18288" marB="18288" anchor="ctr">
                    <a:solidFill>
                      <a:srgbClr val="F1F3F5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Holgura a llanta delantera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700 mm (eje) · 1,450 mm (parte superior)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Espacio posterior libre</a:t>
                      </a:r>
                    </a:p>
                  </a:txBody>
                  <a:tcPr marL="45720" marR="45720" marT="18288" marB="18288" anchor="ctr">
                    <a:solidFill>
                      <a:srgbClr val="F1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450 mm al brazo · mín. 550 mm faldón–llanta</a:t>
                      </a:r>
                    </a:p>
                  </a:txBody>
                  <a:tcPr marL="45720" marR="45720" marT="18288" marB="18288" anchor="ctr">
                    <a:solidFill>
                      <a:srgbClr val="F1F3F5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Altura base–piso (estimada)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≈1.21 m (1,605 mm de tope a eje)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Propuesta OEM (PSG EDT)</a:t>
                      </a:r>
                    </a:p>
                  </a:txBody>
                  <a:tcPr marL="45720" marR="45720" marT="18288" marB="18288" anchor="ctr">
                    <a:solidFill>
                      <a:srgbClr val="FFF0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+220 mm hacia atrás → 1,585 gal</a:t>
                      </a:r>
                    </a:p>
                  </a:txBody>
                  <a:tcPr marL="45720" marR="45720" marT="18288" marB="18288" anchor="ctr">
                    <a:solidFill>
                      <a:srgbClr val="FFF0E6"/>
                    </a:solidFill>
                  </a:tcPr>
                </a:tc>
              </a:tr>
            </a:tbl>
          </a:graphicData>
        </a:graphic>
      </p:graphicFrame>
      <p:sp>
        <p:nvSpPr>
          <p:cNvPr id="9" name="Brecha"/>
          <p:cNvSpPr/>
          <p:nvPr/>
        </p:nvSpPr>
        <p:spPr>
          <a:xfrm>
            <a:off x="4892040" y="3749039"/>
            <a:ext cx="3886200" cy="868680"/>
          </a:xfrm>
          <a:prstGeom prst="roundRect">
            <a:avLst>
              <a:gd name="adj" fmla="val 8000"/>
            </a:avLst>
          </a:prstGeom>
          <a:solidFill>
            <a:srgbClr val="FF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029200" y="3785615"/>
            <a:ext cx="3657600" cy="8046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1" i="0">
                <a:solidFill>
                  <a:srgbClr val="E8590C"/>
                </a:solidFill>
                <a:latin typeface="Arial"/>
              </a:rPr>
              <a:t>Brecha: </a:t>
            </a:r>
            <a:r>
              <a:rPr sz="1100" b="0" i="0">
                <a:solidFill>
                  <a:srgbClr val="1B222A"/>
                </a:solidFill>
                <a:latin typeface="Arial"/>
              </a:rPr>
              <a:t>la extensión OEM llega a 1,585 gal útiles. Para la meta se necesitan </a:t>
            </a:r>
            <a:r>
              <a:rPr sz="1100" b="1" i="0">
                <a:solidFill>
                  <a:srgbClr val="1B222A"/>
                </a:solidFill>
                <a:latin typeface="Arial"/>
              </a:rPr>
              <a:t>~115 gal adicionales</a:t>
            </a:r>
            <a:r>
              <a:rPr sz="1100" b="0" i="0">
                <a:solidFill>
                  <a:srgbClr val="1B222A"/>
                </a:solidFill>
                <a:latin typeface="Arial"/>
              </a:rPr>
              <a:t> sin crecer hacia la llanta delantera.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8915400" cy="0"/>
          </a:xfrm>
        </p:spPr>
        <p:txBody>
          <a:bodyPr/>
          <a:lstStyle/>
          <a:p>
            <a:r>
              <a:t>Criterios de diseño y galones ganados por tramo añadido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Komatsu</a:t>
            </a:r>
            <a:r>
              <a:rPr spc="-35" dirty="0"/>
              <a:t> </a:t>
            </a:r>
            <a:r>
              <a:rPr dirty="0"/>
              <a:t>-</a:t>
            </a:r>
            <a:r>
              <a:rPr spc="-10" dirty="0"/>
              <a:t> </a:t>
            </a:r>
            <a:r>
              <a:rPr dirty="0"/>
              <a:t>Mitsui </a:t>
            </a:r>
            <a:r>
              <a:rPr spc="-10" dirty="0"/>
              <a:t>Maquinarias</a:t>
            </a:r>
            <a:r>
              <a:rPr dirty="0"/>
              <a:t> Perú</a:t>
            </a:r>
            <a:r>
              <a:rPr spc="-10" dirty="0"/>
              <a:t> </a:t>
            </a:r>
            <a:r>
              <a:rPr spc="-20" dirty="0"/>
              <a:t>S.A.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fld id="{81D60167-4931-47E6-BA6A-407CBD079E47}" type="slidenum">
              <a:rPr spc="-25" dirty="0"/>
              <a:t>4</a:t>
            </a:fld>
            <a:endParaRPr spc="-25" dirty="0"/>
          </a:p>
        </p:txBody>
      </p:sp>
      <p:sp>
        <p:nvSpPr>
          <p:cNvPr id="6" name="Criterio 1"/>
          <p:cNvSpPr/>
          <p:nvPr/>
        </p:nvSpPr>
        <p:spPr>
          <a:xfrm>
            <a:off x="365760" y="713232"/>
            <a:ext cx="3977639" cy="868680"/>
          </a:xfrm>
          <a:prstGeom prst="roundRect">
            <a:avLst>
              <a:gd name="adj" fmla="val 8000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502920" y="932688"/>
            <a:ext cx="420624" cy="420624"/>
          </a:xfrm>
          <a:prstGeom prst="ellipse">
            <a:avLst/>
          </a:prstGeom>
          <a:solidFill>
            <a:srgbClr val="1309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786384"/>
            <a:ext cx="3200400" cy="7498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3099A"/>
                </a:solidFill>
                <a:latin typeface="Arial"/>
              </a:rPr>
              <a:t>No crecer hacia la llanta delantera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B222A"/>
                </a:solidFill>
                <a:latin typeface="Arial"/>
              </a:rPr>
              <a:t>Se mantiene la holgura actual de 700 mm (giro y dirección).</a:t>
            </a:r>
          </a:p>
        </p:txBody>
      </p:sp>
      <p:sp>
        <p:nvSpPr>
          <p:cNvPr id="9" name="Criterio 2"/>
          <p:cNvSpPr/>
          <p:nvPr/>
        </p:nvSpPr>
        <p:spPr>
          <a:xfrm>
            <a:off x="365760" y="1700784"/>
            <a:ext cx="3977639" cy="868680"/>
          </a:xfrm>
          <a:prstGeom prst="roundRect">
            <a:avLst>
              <a:gd name="adj" fmla="val 8000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502920" y="1920240"/>
            <a:ext cx="420624" cy="420624"/>
          </a:xfrm>
          <a:prstGeom prst="ellipse">
            <a:avLst/>
          </a:prstGeom>
          <a:solidFill>
            <a:srgbClr val="1309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773936"/>
            <a:ext cx="3200400" cy="7498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3099A"/>
                </a:solidFill>
                <a:latin typeface="Arial"/>
              </a:rPr>
              <a:t>Mantener la altura base–piso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B222A"/>
                </a:solidFill>
                <a:latin typeface="Arial"/>
              </a:rPr>
              <a:t>La base actual queda a ≈1.21 m del piso; cualquier tramo inferior la reduce.</a:t>
            </a:r>
          </a:p>
        </p:txBody>
      </p:sp>
      <p:sp>
        <p:nvSpPr>
          <p:cNvPr id="12" name="Criterio 3"/>
          <p:cNvSpPr/>
          <p:nvPr/>
        </p:nvSpPr>
        <p:spPr>
          <a:xfrm>
            <a:off x="365760" y="2688336"/>
            <a:ext cx="3977639" cy="868680"/>
          </a:xfrm>
          <a:prstGeom prst="roundRect">
            <a:avLst>
              <a:gd name="adj" fmla="val 8000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502920" y="2907792"/>
            <a:ext cx="420624" cy="420624"/>
          </a:xfrm>
          <a:prstGeom prst="ellipse">
            <a:avLst/>
          </a:prstGeom>
          <a:solidFill>
            <a:srgbClr val="1309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761488"/>
            <a:ext cx="3200400" cy="7498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3099A"/>
                </a:solidFill>
                <a:latin typeface="Arial"/>
              </a:rPr>
              <a:t>Respetar la holgura posterior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B222A"/>
                </a:solidFill>
                <a:latin typeface="Arial"/>
              </a:rPr>
              <a:t>Mín. 550 mm a la llanta; 450 mm disponibles al brazo (OEM usó 220 mm).</a:t>
            </a:r>
          </a:p>
        </p:txBody>
      </p:sp>
      <p:sp>
        <p:nvSpPr>
          <p:cNvPr id="15" name="Criterio 4"/>
          <p:cNvSpPr/>
          <p:nvPr/>
        </p:nvSpPr>
        <p:spPr>
          <a:xfrm>
            <a:off x="365760" y="3675888"/>
            <a:ext cx="3977639" cy="868680"/>
          </a:xfrm>
          <a:prstGeom prst="roundRect">
            <a:avLst>
              <a:gd name="adj" fmla="val 8000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502920" y="3895344"/>
            <a:ext cx="420624" cy="420624"/>
          </a:xfrm>
          <a:prstGeom prst="ellipse">
            <a:avLst/>
          </a:prstGeom>
          <a:solidFill>
            <a:srgbClr val="1309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749040"/>
            <a:ext cx="3200400" cy="7498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3099A"/>
                </a:solidFill>
                <a:latin typeface="Arial"/>
              </a:rPr>
              <a:t>Meta ≥1,700 gal útiles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B222A"/>
                </a:solidFill>
                <a:latin typeface="Arial"/>
              </a:rPr>
              <a:t>Descontando el volumen bajo el pickup y sobre el sensor de llenado.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0" y="960120"/>
          <a:ext cx="420624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4572000" y="658368"/>
            <a:ext cx="420624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13099A"/>
                </a:solidFill>
                <a:latin typeface="Arial"/>
              </a:rPr>
              <a:t>Galones brutos ganados por cada 100 mm añadidos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224528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>
                <a:solidFill>
                  <a:srgbClr val="5F666D"/>
                </a:solidFill>
                <a:latin typeface="Arial"/>
              </a:rPr>
              <a:t>Crecer hacia atrás rinde más por milímetro porque esa cara del tanque es la de mayor área (≈2.2 m de ancho × 2.24 m de alto).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8915400" cy="0"/>
          </a:xfrm>
        </p:spPr>
        <p:txBody>
          <a:bodyPr/>
          <a:lstStyle/>
          <a:p>
            <a:r>
              <a:t>P1 · Tramo inferior 300 mm + caja posterior superior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Komatsu</a:t>
            </a:r>
            <a:r>
              <a:rPr spc="-35" dirty="0"/>
              <a:t> </a:t>
            </a:r>
            <a:r>
              <a:rPr dirty="0"/>
              <a:t>-</a:t>
            </a:r>
            <a:r>
              <a:rPr spc="-10" dirty="0"/>
              <a:t> </a:t>
            </a:r>
            <a:r>
              <a:rPr dirty="0"/>
              <a:t>Mitsui </a:t>
            </a:r>
            <a:r>
              <a:rPr spc="-10" dirty="0"/>
              <a:t>Maquinarias</a:t>
            </a:r>
            <a:r>
              <a:rPr dirty="0"/>
              <a:t> Perú</a:t>
            </a:r>
            <a:r>
              <a:rPr spc="-10" dirty="0"/>
              <a:t> </a:t>
            </a:r>
            <a:r>
              <a:rPr spc="-20" dirty="0"/>
              <a:t>S.A.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fld id="{81D60167-4931-47E6-BA6A-407CBD079E47}" type="slidenum">
              <a:rPr spc="-25" dirty="0"/>
              <a:t>5</a:t>
            </a:fld>
            <a:endParaRPr spc="-25" dirty="0"/>
          </a:p>
        </p:txBody>
      </p:sp>
      <p:pic>
        <p:nvPicPr>
          <p:cNvPr id="6" name="Picture 5" descr="c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21792"/>
            <a:ext cx="4251960" cy="288228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522361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5F666D"/>
                </a:solidFill>
                <a:latin typeface="Arial"/>
              </a:rPr>
              <a:t>Modelo 3D adjunto: Tanque_980E5_P1.step  ·  en naranja: tramo añadido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796681"/>
            <a:ext cx="4114800" cy="88504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B8A3E"/>
                </a:solidFill>
                <a:latin typeface="Arial"/>
              </a:rPr>
              <a:t>Ventaja: </a:t>
            </a:r>
            <a:r>
              <a:rPr sz="1050" b="0" i="0">
                <a:solidFill>
                  <a:srgbClr val="1B222A"/>
                </a:solidFill>
                <a:latin typeface="Arial"/>
              </a:rPr>
              <a:t>No modifica el techo ni la cara exterior.</a:t>
            </a:r>
          </a:p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C92A2A"/>
                </a:solidFill>
                <a:latin typeface="Arial"/>
              </a:rPr>
              <a:t>Riesgo: </a:t>
            </a:r>
            <a:r>
              <a:rPr sz="1050" b="0" i="0">
                <a:solidFill>
                  <a:srgbClr val="1B222A"/>
                </a:solidFill>
                <a:latin typeface="Arial"/>
              </a:rPr>
              <a:t>Reduce la altura libre. La parte de la caja sobre el sensor de llenado no se usa: llega a 1,695 gal (5 gal bajo la meta).</a:t>
            </a:r>
          </a:p>
        </p:txBody>
      </p:sp>
      <p:sp>
        <p:nvSpPr>
          <p:cNvPr id="9" name="Capacidad"/>
          <p:cNvSpPr/>
          <p:nvPr/>
        </p:nvSpPr>
        <p:spPr>
          <a:xfrm>
            <a:off x="4709160" y="658368"/>
            <a:ext cx="4069080" cy="786384"/>
          </a:xfrm>
          <a:prstGeom prst="roundRect">
            <a:avLst>
              <a:gd name="adj" fmla="val 8000"/>
            </a:avLst>
          </a:prstGeom>
          <a:solidFill>
            <a:srgbClr val="FF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846320" y="676656"/>
            <a:ext cx="2011680" cy="7498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000" b="1" i="0">
                <a:solidFill>
                  <a:srgbClr val="E67700"/>
                </a:solidFill>
                <a:latin typeface="Arial"/>
              </a:rPr>
              <a:t>1,695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694944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1" i="0">
                <a:solidFill>
                  <a:srgbClr val="E67700"/>
                </a:solidFill>
                <a:latin typeface="Arial"/>
              </a:rPr>
              <a:t>gal útiles</a:t>
            </a:r>
          </a:p>
          <a:p>
            <a:pPr algn="l"/>
            <a:r>
              <a:rPr sz="1000" b="0" i="0">
                <a:solidFill>
                  <a:srgbClr val="1B222A"/>
                </a:solidFill>
                <a:latin typeface="Arial"/>
              </a:rPr>
              <a:t>+279 gal (+19.7%) vs actual</a:t>
            </a:r>
          </a:p>
          <a:p>
            <a:pPr algn="l"/>
            <a:r>
              <a:rPr sz="1000" b="0" i="0">
                <a:solidFill>
                  <a:srgbClr val="5F666D"/>
                </a:solidFill>
                <a:latin typeface="Arial"/>
              </a:rPr>
              <a:t>Bruto: 1,805 gal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709160" y="1554480"/>
          <a:ext cx="4069080" cy="13167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17320"/>
                <a:gridCol w="1005840"/>
                <a:gridCol w="548640"/>
                <a:gridCol w="548640"/>
                <a:gridCol w="54864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Tramo añadido</a:t>
                      </a:r>
                    </a:p>
                  </a:txBody>
                  <a:tcPr marL="45720" marR="45720" marT="18288" marB="18288" anchor="ctr">
                    <a:solidFill>
                      <a:srgbClr val="1309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Aumento</a:t>
                      </a:r>
                    </a:p>
                  </a:txBody>
                  <a:tcPr marL="45720" marR="45720" marT="18288" marB="18288" anchor="ctr">
                    <a:solidFill>
                      <a:srgbClr val="1309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+gal</a:t>
                      </a:r>
                    </a:p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bruto</a:t>
                      </a:r>
                    </a:p>
                  </a:txBody>
                  <a:tcPr marL="45720" marR="45720" marT="18288" marB="18288" anchor="ctr">
                    <a:solidFill>
                      <a:srgbClr val="1309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+gal</a:t>
                      </a:r>
                    </a:p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útil</a:t>
                      </a:r>
                    </a:p>
                  </a:txBody>
                  <a:tcPr marL="45720" marR="45720" marT="18288" marB="18288" anchor="ctr">
                    <a:solidFill>
                      <a:srgbClr val="1309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gal/</a:t>
                      </a:r>
                    </a:p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100mm</a:t>
                      </a:r>
                    </a:p>
                  </a:txBody>
                  <a:tcPr marL="45720" marR="45720" marT="18288" marB="18288" anchor="ctr">
                    <a:solidFill>
                      <a:srgbClr val="13099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B222A"/>
                          </a:solidFill>
                          <a:latin typeface="Arial"/>
                        </a:rPr>
                        <a:t>Tramo inferior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+300 mm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hacia abajo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+203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+203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67.5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B222A"/>
                          </a:solidFill>
                          <a:latin typeface="Arial"/>
                        </a:rPr>
                        <a:t>Caja posterior superior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300 × 1384 × ~1000 mm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+89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+77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29.7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B222A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8288" marB="18288" anchor="ctr">
                    <a:solidFill>
                      <a:srgbClr val="FFF0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0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1B222A"/>
                          </a:solidFill>
                          <a:latin typeface="Arial"/>
                        </a:rPr>
                        <a:t>+292</a:t>
                      </a:r>
                    </a:p>
                  </a:txBody>
                  <a:tcPr marL="45720" marR="45720" marT="18288" marB="18288" anchor="ctr">
                    <a:solidFill>
                      <a:srgbClr val="FFF0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E8590C"/>
                          </a:solidFill>
                          <a:latin typeface="Arial"/>
                        </a:rPr>
                        <a:t>+279</a:t>
                      </a:r>
                    </a:p>
                  </a:txBody>
                  <a:tcPr marL="45720" marR="45720" marT="18288" marB="18288" anchor="ctr">
                    <a:solidFill>
                      <a:srgbClr val="FFF0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0E6"/>
                    </a:solidFill>
                  </a:tcPr>
                </a:tc>
              </a:tr>
            </a:tbl>
          </a:graphicData>
        </a:graphic>
      </p:graphicFrame>
      <p:sp>
        <p:nvSpPr>
          <p:cNvPr id="13" name="Oval 12"/>
          <p:cNvSpPr/>
          <p:nvPr/>
        </p:nvSpPr>
        <p:spPr>
          <a:xfrm>
            <a:off x="4727448" y="3118103"/>
            <a:ext cx="219456" cy="219456"/>
          </a:xfrm>
          <a:prstGeom prst="ellipse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3035808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0" i="0">
                <a:solidFill>
                  <a:srgbClr val="1B222A"/>
                </a:solidFill>
                <a:latin typeface="Arial"/>
              </a:rPr>
              <a:t>Frente: sin cambio (holgura de 700 mm intacta)</a:t>
            </a:r>
          </a:p>
        </p:txBody>
      </p:sp>
      <p:sp>
        <p:nvSpPr>
          <p:cNvPr id="15" name="Oval 14"/>
          <p:cNvSpPr/>
          <p:nvPr/>
        </p:nvSpPr>
        <p:spPr>
          <a:xfrm>
            <a:off x="4727448" y="3520439"/>
            <a:ext cx="219456" cy="219456"/>
          </a:xfrm>
          <a:prstGeom prst="ellipse">
            <a:avLst/>
          </a:prstGeom>
          <a:solidFill>
            <a:srgbClr val="C9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438144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0" i="0">
                <a:solidFill>
                  <a:srgbClr val="1B222A"/>
                </a:solidFill>
                <a:latin typeface="Arial"/>
              </a:rPr>
              <a:t>Base–piso: baja 300 mm (≈1.21 → 0.91 m)</a:t>
            </a:r>
          </a:p>
        </p:txBody>
      </p:sp>
      <p:sp>
        <p:nvSpPr>
          <p:cNvPr id="17" name="Oval 16"/>
          <p:cNvSpPr/>
          <p:nvPr/>
        </p:nvSpPr>
        <p:spPr>
          <a:xfrm>
            <a:off x="4727448" y="3922776"/>
            <a:ext cx="219456" cy="219456"/>
          </a:xfrm>
          <a:prstGeom prst="ellipse">
            <a:avLst/>
          </a:prstGeom>
          <a:solidFill>
            <a:srgbClr val="E6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840480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0" i="0">
                <a:solidFill>
                  <a:srgbClr val="1B222A"/>
                </a:solidFill>
                <a:latin typeface="Arial"/>
              </a:rPr>
              <a:t>Caja de 300 mm hacia atrás: quedan ~150 mm al brazo (hay 450 mm)</a:t>
            </a:r>
          </a:p>
        </p:txBody>
      </p:sp>
      <p:sp>
        <p:nvSpPr>
          <p:cNvPr id="19" name="Oval 18"/>
          <p:cNvSpPr/>
          <p:nvPr/>
        </p:nvSpPr>
        <p:spPr>
          <a:xfrm>
            <a:off x="4727448" y="4325112"/>
            <a:ext cx="219456" cy="219456"/>
          </a:xfrm>
          <a:prstGeom prst="ellipse">
            <a:avLst/>
          </a:prstGeom>
          <a:solidFill>
            <a:srgbClr val="E6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4242816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0" i="0">
                <a:solidFill>
                  <a:srgbClr val="1B222A"/>
                </a:solidFill>
                <a:latin typeface="Arial"/>
              </a:rPr>
              <a:t>Reubicar el pickup y el sensor de nivel al nuevo fondo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8915400" cy="0"/>
          </a:xfrm>
        </p:spPr>
        <p:txBody>
          <a:bodyPr/>
          <a:lstStyle/>
          <a:p>
            <a:r>
              <a:t>P2 · Tramo inferior 300 mm + tramo superior 150 mm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Komatsu</a:t>
            </a:r>
            <a:r>
              <a:rPr spc="-35" dirty="0"/>
              <a:t> </a:t>
            </a:r>
            <a:r>
              <a:rPr dirty="0"/>
              <a:t>-</a:t>
            </a:r>
            <a:r>
              <a:rPr spc="-10" dirty="0"/>
              <a:t> </a:t>
            </a:r>
            <a:r>
              <a:rPr dirty="0"/>
              <a:t>Mitsui </a:t>
            </a:r>
            <a:r>
              <a:rPr spc="-10" dirty="0"/>
              <a:t>Maquinarias</a:t>
            </a:r>
            <a:r>
              <a:rPr dirty="0"/>
              <a:t> Perú</a:t>
            </a:r>
            <a:r>
              <a:rPr spc="-10" dirty="0"/>
              <a:t> </a:t>
            </a:r>
            <a:r>
              <a:rPr spc="-20" dirty="0"/>
              <a:t>S.A.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fld id="{81D60167-4931-47E6-BA6A-407CBD079E47}" type="slidenum">
              <a:rPr spc="-25" dirty="0"/>
              <a:t>6</a:t>
            </a:fld>
            <a:endParaRPr spc="-25" dirty="0"/>
          </a:p>
        </p:txBody>
      </p:sp>
      <p:pic>
        <p:nvPicPr>
          <p:cNvPr id="6" name="Picture 5" descr="c_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21792"/>
            <a:ext cx="4251960" cy="288228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522361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5F666D"/>
                </a:solidFill>
                <a:latin typeface="Arial"/>
              </a:rPr>
              <a:t>Modelo 3D adjunto: Tanque_980E5_P2.step  ·  en naranja: tramo añadido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796681"/>
            <a:ext cx="4114800" cy="88504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B8A3E"/>
                </a:solidFill>
                <a:latin typeface="Arial"/>
              </a:rPr>
              <a:t>Ventaja: </a:t>
            </a:r>
            <a:r>
              <a:rPr sz="1050" b="0" i="0">
                <a:solidFill>
                  <a:srgbClr val="1B222A"/>
                </a:solidFill>
                <a:latin typeface="Arial"/>
              </a:rPr>
              <a:t>La mayor capacidad (1,720 gal) con bandas simples en todo el perímetro.</a:t>
            </a:r>
          </a:p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C92A2A"/>
                </a:solidFill>
                <a:latin typeface="Arial"/>
              </a:rPr>
              <a:t>Riesgo: </a:t>
            </a:r>
            <a:r>
              <a:rPr sz="1050" b="0" i="0">
                <a:solidFill>
                  <a:srgbClr val="1B222A"/>
                </a:solidFill>
                <a:latin typeface="Arial"/>
              </a:rPr>
              <a:t>Reduce la altura libre y modifica el tanque arriba y abajo.</a:t>
            </a:r>
          </a:p>
        </p:txBody>
      </p:sp>
      <p:sp>
        <p:nvSpPr>
          <p:cNvPr id="9" name="Capacidad"/>
          <p:cNvSpPr/>
          <p:nvPr/>
        </p:nvSpPr>
        <p:spPr>
          <a:xfrm>
            <a:off x="4709160" y="658368"/>
            <a:ext cx="4069080" cy="786384"/>
          </a:xfrm>
          <a:prstGeom prst="roundRect">
            <a:avLst>
              <a:gd name="adj" fmla="val 8000"/>
            </a:avLst>
          </a:prstGeom>
          <a:solidFill>
            <a:srgbClr val="ECE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846320" y="676656"/>
            <a:ext cx="2011680" cy="7498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000" b="1" i="0">
                <a:solidFill>
                  <a:srgbClr val="13099A"/>
                </a:solidFill>
                <a:latin typeface="Arial"/>
              </a:rPr>
              <a:t>1,720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694944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1" i="0">
                <a:solidFill>
                  <a:srgbClr val="13099A"/>
                </a:solidFill>
                <a:latin typeface="Arial"/>
              </a:rPr>
              <a:t>gal útiles</a:t>
            </a:r>
          </a:p>
          <a:p>
            <a:pPr algn="l"/>
            <a:r>
              <a:rPr sz="1000" b="0" i="0">
                <a:solidFill>
                  <a:srgbClr val="1B222A"/>
                </a:solidFill>
                <a:latin typeface="Arial"/>
              </a:rPr>
              <a:t>+304 gal (+21.5%) vs actual</a:t>
            </a:r>
          </a:p>
          <a:p>
            <a:pPr algn="l"/>
            <a:r>
              <a:rPr sz="1000" b="0" i="0">
                <a:solidFill>
                  <a:srgbClr val="5F666D"/>
                </a:solidFill>
                <a:latin typeface="Arial"/>
              </a:rPr>
              <a:t>Bruto: 1,817 gal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709160" y="1554480"/>
          <a:ext cx="4069080" cy="13167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17320"/>
                <a:gridCol w="1005840"/>
                <a:gridCol w="548640"/>
                <a:gridCol w="548640"/>
                <a:gridCol w="54864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Tramo añadido</a:t>
                      </a:r>
                    </a:p>
                  </a:txBody>
                  <a:tcPr marL="45720" marR="45720" marT="18288" marB="18288" anchor="ctr">
                    <a:solidFill>
                      <a:srgbClr val="1309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Aumento</a:t>
                      </a:r>
                    </a:p>
                  </a:txBody>
                  <a:tcPr marL="45720" marR="45720" marT="18288" marB="18288" anchor="ctr">
                    <a:solidFill>
                      <a:srgbClr val="1309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+gal</a:t>
                      </a:r>
                    </a:p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bruto</a:t>
                      </a:r>
                    </a:p>
                  </a:txBody>
                  <a:tcPr marL="45720" marR="45720" marT="18288" marB="18288" anchor="ctr">
                    <a:solidFill>
                      <a:srgbClr val="1309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+gal</a:t>
                      </a:r>
                    </a:p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útil</a:t>
                      </a:r>
                    </a:p>
                  </a:txBody>
                  <a:tcPr marL="45720" marR="45720" marT="18288" marB="18288" anchor="ctr">
                    <a:solidFill>
                      <a:srgbClr val="1309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gal/</a:t>
                      </a:r>
                    </a:p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100mm</a:t>
                      </a:r>
                    </a:p>
                  </a:txBody>
                  <a:tcPr marL="45720" marR="45720" marT="18288" marB="18288" anchor="ctr">
                    <a:solidFill>
                      <a:srgbClr val="13099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B222A"/>
                          </a:solidFill>
                          <a:latin typeface="Arial"/>
                        </a:rPr>
                        <a:t>Tramo inferior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+300 mm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hacia abajo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+203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+203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67.5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B222A"/>
                          </a:solidFill>
                          <a:latin typeface="Arial"/>
                        </a:rPr>
                        <a:t>Tramo superior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+150 mm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hacia arriba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+101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+101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67.5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B222A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8288" marB="18288" anchor="ctr">
                    <a:solidFill>
                      <a:srgbClr val="FFF0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0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1B222A"/>
                          </a:solidFill>
                          <a:latin typeface="Arial"/>
                        </a:rPr>
                        <a:t>+304</a:t>
                      </a:r>
                    </a:p>
                  </a:txBody>
                  <a:tcPr marL="45720" marR="45720" marT="18288" marB="18288" anchor="ctr">
                    <a:solidFill>
                      <a:srgbClr val="FFF0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E8590C"/>
                          </a:solidFill>
                          <a:latin typeface="Arial"/>
                        </a:rPr>
                        <a:t>+304</a:t>
                      </a:r>
                    </a:p>
                  </a:txBody>
                  <a:tcPr marL="45720" marR="45720" marT="18288" marB="18288" anchor="ctr">
                    <a:solidFill>
                      <a:srgbClr val="FFF0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0E6"/>
                    </a:solidFill>
                  </a:tcPr>
                </a:tc>
              </a:tr>
            </a:tbl>
          </a:graphicData>
        </a:graphic>
      </p:graphicFrame>
      <p:sp>
        <p:nvSpPr>
          <p:cNvPr id="13" name="Oval 12"/>
          <p:cNvSpPr/>
          <p:nvPr/>
        </p:nvSpPr>
        <p:spPr>
          <a:xfrm>
            <a:off x="4727448" y="3118103"/>
            <a:ext cx="219456" cy="219456"/>
          </a:xfrm>
          <a:prstGeom prst="ellipse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3035808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0" i="0">
                <a:solidFill>
                  <a:srgbClr val="1B222A"/>
                </a:solidFill>
                <a:latin typeface="Arial"/>
              </a:rPr>
              <a:t>Frente: sin cambio (holgura de 700 mm intacta)</a:t>
            </a:r>
          </a:p>
        </p:txBody>
      </p:sp>
      <p:sp>
        <p:nvSpPr>
          <p:cNvPr id="15" name="Oval 14"/>
          <p:cNvSpPr/>
          <p:nvPr/>
        </p:nvSpPr>
        <p:spPr>
          <a:xfrm>
            <a:off x="4727448" y="3520439"/>
            <a:ext cx="219456" cy="219456"/>
          </a:xfrm>
          <a:prstGeom prst="ellipse">
            <a:avLst/>
          </a:prstGeom>
          <a:solidFill>
            <a:srgbClr val="C9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438144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0" i="0">
                <a:solidFill>
                  <a:srgbClr val="1B222A"/>
                </a:solidFill>
                <a:latin typeface="Arial"/>
              </a:rPr>
              <a:t>Base–piso: baja 300 mm (≈1.21 → 0.91 m)</a:t>
            </a:r>
          </a:p>
        </p:txBody>
      </p:sp>
      <p:sp>
        <p:nvSpPr>
          <p:cNvPr id="17" name="Oval 16"/>
          <p:cNvSpPr/>
          <p:nvPr/>
        </p:nvSpPr>
        <p:spPr>
          <a:xfrm>
            <a:off x="4727448" y="3922776"/>
            <a:ext cx="219456" cy="219456"/>
          </a:xfrm>
          <a:prstGeom prst="ellipse">
            <a:avLst/>
          </a:prstGeom>
          <a:solidFill>
            <a:srgbClr val="E6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840480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0" i="0">
                <a:solidFill>
                  <a:srgbClr val="1B222A"/>
                </a:solidFill>
                <a:latin typeface="Arial"/>
              </a:rPr>
              <a:t>Superior +150 mm: validar holgura bajo la plataforma y la tolva</a:t>
            </a:r>
          </a:p>
        </p:txBody>
      </p:sp>
      <p:sp>
        <p:nvSpPr>
          <p:cNvPr id="19" name="Oval 18"/>
          <p:cNvSpPr/>
          <p:nvPr/>
        </p:nvSpPr>
        <p:spPr>
          <a:xfrm>
            <a:off x="4727448" y="4325112"/>
            <a:ext cx="219456" cy="219456"/>
          </a:xfrm>
          <a:prstGeom prst="ellipse">
            <a:avLst/>
          </a:prstGeom>
          <a:solidFill>
            <a:srgbClr val="E6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4242816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0" i="0">
                <a:solidFill>
                  <a:srgbClr val="1B222A"/>
                </a:solidFill>
                <a:latin typeface="Arial"/>
              </a:rPr>
              <a:t>Reubicar el pickup, el sensor jet y los venteos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8915400" cy="0"/>
          </a:xfrm>
        </p:spPr>
        <p:txBody>
          <a:bodyPr/>
          <a:lstStyle/>
          <a:p>
            <a:r>
              <a:t>P3 · Tramo posterior 220 mm + tramo superior 160 mm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Komatsu</a:t>
            </a:r>
            <a:r>
              <a:rPr spc="-35" dirty="0"/>
              <a:t> </a:t>
            </a:r>
            <a:r>
              <a:rPr dirty="0"/>
              <a:t>-</a:t>
            </a:r>
            <a:r>
              <a:rPr spc="-10" dirty="0"/>
              <a:t> </a:t>
            </a:r>
            <a:r>
              <a:rPr dirty="0"/>
              <a:t>Mitsui </a:t>
            </a:r>
            <a:r>
              <a:rPr spc="-10" dirty="0"/>
              <a:t>Maquinarias</a:t>
            </a:r>
            <a:r>
              <a:rPr dirty="0"/>
              <a:t> Perú</a:t>
            </a:r>
            <a:r>
              <a:rPr spc="-10" dirty="0"/>
              <a:t> </a:t>
            </a:r>
            <a:r>
              <a:rPr spc="-20" dirty="0"/>
              <a:t>S.A.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fld id="{81D60167-4931-47E6-BA6A-407CBD079E47}" type="slidenum">
              <a:rPr spc="-25" dirty="0"/>
              <a:t>7</a:t>
            </a:fld>
            <a:endParaRPr spc="-25" dirty="0"/>
          </a:p>
        </p:txBody>
      </p:sp>
      <p:pic>
        <p:nvPicPr>
          <p:cNvPr id="6" name="Picture 5" descr="c_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21792"/>
            <a:ext cx="4251960" cy="288228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522361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5F666D"/>
                </a:solidFill>
                <a:latin typeface="Arial"/>
              </a:rPr>
              <a:t>Modelo 3D nuevo: Tanque_980E5_P3.step  ·  en naranja: tramo añadido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796681"/>
            <a:ext cx="4114800" cy="88504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B8A3E"/>
                </a:solidFill>
                <a:latin typeface="Arial"/>
              </a:rPr>
              <a:t>Ventaja: </a:t>
            </a:r>
            <a:r>
              <a:rPr sz="1050" b="0" i="0">
                <a:solidFill>
                  <a:srgbClr val="1B222A"/>
                </a:solidFill>
                <a:latin typeface="Arial"/>
              </a:rPr>
              <a:t>Usa la extensión posterior que OEM ya revisó en campo y solo le suma un tramo superior.</a:t>
            </a:r>
          </a:p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C92A2A"/>
                </a:solidFill>
                <a:latin typeface="Arial"/>
              </a:rPr>
              <a:t>Riesgo: </a:t>
            </a:r>
            <a:r>
              <a:rPr sz="1050" b="0" i="0">
                <a:solidFill>
                  <a:srgbClr val="1B222A"/>
                </a:solidFill>
                <a:latin typeface="Arial"/>
              </a:rPr>
              <a:t>Requiere confirmar 160 mm libres sobre el tanque.</a:t>
            </a:r>
          </a:p>
        </p:txBody>
      </p:sp>
      <p:sp>
        <p:nvSpPr>
          <p:cNvPr id="9" name="Capacidad"/>
          <p:cNvSpPr/>
          <p:nvPr/>
        </p:nvSpPr>
        <p:spPr>
          <a:xfrm>
            <a:off x="4709160" y="658368"/>
            <a:ext cx="4069080" cy="786384"/>
          </a:xfrm>
          <a:prstGeom prst="roundRect">
            <a:avLst>
              <a:gd name="adj" fmla="val 8000"/>
            </a:avLst>
          </a:prstGeom>
          <a:solidFill>
            <a:srgbClr val="ECE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846320" y="676656"/>
            <a:ext cx="2011680" cy="7498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000" b="1" i="0">
                <a:solidFill>
                  <a:srgbClr val="13099A"/>
                </a:solidFill>
                <a:latin typeface="Arial"/>
              </a:rPr>
              <a:t>1,707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694944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1" i="0">
                <a:solidFill>
                  <a:srgbClr val="13099A"/>
                </a:solidFill>
                <a:latin typeface="Arial"/>
              </a:rPr>
              <a:t>gal útiles</a:t>
            </a:r>
          </a:p>
          <a:p>
            <a:pPr algn="l"/>
            <a:r>
              <a:rPr sz="1000" b="0" i="0">
                <a:solidFill>
                  <a:srgbClr val="1B222A"/>
                </a:solidFill>
                <a:latin typeface="Arial"/>
              </a:rPr>
              <a:t>+291 gal (+20.5%) vs actual</a:t>
            </a:r>
          </a:p>
          <a:p>
            <a:pPr algn="l"/>
            <a:r>
              <a:rPr sz="1000" b="0" i="0">
                <a:solidFill>
                  <a:srgbClr val="5F666D"/>
                </a:solidFill>
                <a:latin typeface="Arial"/>
              </a:rPr>
              <a:t>Bruto: 1,816 gal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709160" y="1554480"/>
          <a:ext cx="4069080" cy="13167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17320"/>
                <a:gridCol w="1005840"/>
                <a:gridCol w="548640"/>
                <a:gridCol w="548640"/>
                <a:gridCol w="54864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Tramo añadido</a:t>
                      </a:r>
                    </a:p>
                  </a:txBody>
                  <a:tcPr marL="45720" marR="45720" marT="18288" marB="18288" anchor="ctr">
                    <a:solidFill>
                      <a:srgbClr val="1309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Aumento</a:t>
                      </a:r>
                    </a:p>
                  </a:txBody>
                  <a:tcPr marL="45720" marR="45720" marT="18288" marB="18288" anchor="ctr">
                    <a:solidFill>
                      <a:srgbClr val="1309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+gal</a:t>
                      </a:r>
                    </a:p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bruto</a:t>
                      </a:r>
                    </a:p>
                  </a:txBody>
                  <a:tcPr marL="45720" marR="45720" marT="18288" marB="18288" anchor="ctr">
                    <a:solidFill>
                      <a:srgbClr val="1309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+gal</a:t>
                      </a:r>
                    </a:p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útil</a:t>
                      </a:r>
                    </a:p>
                  </a:txBody>
                  <a:tcPr marL="45720" marR="45720" marT="18288" marB="18288" anchor="ctr">
                    <a:solidFill>
                      <a:srgbClr val="1309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gal/</a:t>
                      </a:r>
                    </a:p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100mm</a:t>
                      </a:r>
                    </a:p>
                  </a:txBody>
                  <a:tcPr marL="45720" marR="45720" marT="18288" marB="18288" anchor="ctr">
                    <a:solidFill>
                      <a:srgbClr val="13099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B222A"/>
                          </a:solidFill>
                          <a:latin typeface="Arial"/>
                        </a:rPr>
                        <a:t>Tramo posterior (envolvente OEM)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+220 mm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hacia atrás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+181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+170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82.5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B222A"/>
                          </a:solidFill>
                          <a:latin typeface="Arial"/>
                        </a:rPr>
                        <a:t>Tramo superior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+160 mm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hacia arriba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+121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+121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75.7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B222A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8288" marB="18288" anchor="ctr">
                    <a:solidFill>
                      <a:srgbClr val="FFF0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0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1B222A"/>
                          </a:solidFill>
                          <a:latin typeface="Arial"/>
                        </a:rPr>
                        <a:t>+303</a:t>
                      </a:r>
                    </a:p>
                  </a:txBody>
                  <a:tcPr marL="45720" marR="45720" marT="18288" marB="18288" anchor="ctr">
                    <a:solidFill>
                      <a:srgbClr val="FFF0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E8590C"/>
                          </a:solidFill>
                          <a:latin typeface="Arial"/>
                        </a:rPr>
                        <a:t>+291</a:t>
                      </a:r>
                    </a:p>
                  </a:txBody>
                  <a:tcPr marL="45720" marR="45720" marT="18288" marB="18288" anchor="ctr">
                    <a:solidFill>
                      <a:srgbClr val="FFF0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0E6"/>
                    </a:solidFill>
                  </a:tcPr>
                </a:tc>
              </a:tr>
            </a:tbl>
          </a:graphicData>
        </a:graphic>
      </p:graphicFrame>
      <p:sp>
        <p:nvSpPr>
          <p:cNvPr id="13" name="Oval 12"/>
          <p:cNvSpPr/>
          <p:nvPr/>
        </p:nvSpPr>
        <p:spPr>
          <a:xfrm>
            <a:off x="4727448" y="3118103"/>
            <a:ext cx="219456" cy="219456"/>
          </a:xfrm>
          <a:prstGeom prst="ellipse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3035808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0" i="0">
                <a:solidFill>
                  <a:srgbClr val="1B222A"/>
                </a:solidFill>
                <a:latin typeface="Arial"/>
              </a:rPr>
              <a:t>Frente: sin cambio (holgura de 700 mm intacta)</a:t>
            </a:r>
          </a:p>
        </p:txBody>
      </p:sp>
      <p:sp>
        <p:nvSpPr>
          <p:cNvPr id="15" name="Oval 14"/>
          <p:cNvSpPr/>
          <p:nvPr/>
        </p:nvSpPr>
        <p:spPr>
          <a:xfrm>
            <a:off x="4727448" y="3520439"/>
            <a:ext cx="219456" cy="219456"/>
          </a:xfrm>
          <a:prstGeom prst="ellipse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438144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0" i="0">
                <a:solidFill>
                  <a:srgbClr val="1B222A"/>
                </a:solidFill>
                <a:latin typeface="Arial"/>
              </a:rPr>
              <a:t>Base–piso: sin cambio (≈1.21 m)</a:t>
            </a:r>
          </a:p>
        </p:txBody>
      </p:sp>
      <p:sp>
        <p:nvSpPr>
          <p:cNvPr id="17" name="Oval 16"/>
          <p:cNvSpPr/>
          <p:nvPr/>
        </p:nvSpPr>
        <p:spPr>
          <a:xfrm>
            <a:off x="4727448" y="3922776"/>
            <a:ext cx="219456" cy="219456"/>
          </a:xfrm>
          <a:prstGeom prst="ellipse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840480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0" i="0">
                <a:solidFill>
                  <a:srgbClr val="1B222A"/>
                </a:solidFill>
                <a:latin typeface="Arial"/>
              </a:rPr>
              <a:t>Atrás 220 mm: quedan 680 mm a la llanta (≥550) y 230 mm al brazo (OEM)</a:t>
            </a:r>
          </a:p>
        </p:txBody>
      </p:sp>
      <p:sp>
        <p:nvSpPr>
          <p:cNvPr id="19" name="Oval 18"/>
          <p:cNvSpPr/>
          <p:nvPr/>
        </p:nvSpPr>
        <p:spPr>
          <a:xfrm>
            <a:off x="4727448" y="4325112"/>
            <a:ext cx="219456" cy="219456"/>
          </a:xfrm>
          <a:prstGeom prst="ellipse">
            <a:avLst/>
          </a:prstGeom>
          <a:solidFill>
            <a:srgbClr val="E6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4242816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0" i="0">
                <a:solidFill>
                  <a:srgbClr val="1B222A"/>
                </a:solidFill>
                <a:latin typeface="Arial"/>
              </a:rPr>
              <a:t>Superior +160 mm: validar holgura; subir sensor jet y venteos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8915400" cy="0"/>
          </a:xfrm>
        </p:spPr>
        <p:txBody>
          <a:bodyPr/>
          <a:lstStyle/>
          <a:p>
            <a:r>
              <a:t>P4 · Tramo posterior 220 mm + tramo lateral exterior 180 mm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Komatsu</a:t>
            </a:r>
            <a:r>
              <a:rPr spc="-35" dirty="0"/>
              <a:t> </a:t>
            </a:r>
            <a:r>
              <a:rPr dirty="0"/>
              <a:t>-</a:t>
            </a:r>
            <a:r>
              <a:rPr spc="-10" dirty="0"/>
              <a:t> </a:t>
            </a:r>
            <a:r>
              <a:rPr dirty="0"/>
              <a:t>Mitsui </a:t>
            </a:r>
            <a:r>
              <a:rPr spc="-10" dirty="0"/>
              <a:t>Maquinarias</a:t>
            </a:r>
            <a:r>
              <a:rPr dirty="0"/>
              <a:t> Perú</a:t>
            </a:r>
            <a:r>
              <a:rPr spc="-10" dirty="0"/>
              <a:t> </a:t>
            </a:r>
            <a:r>
              <a:rPr spc="-20" dirty="0"/>
              <a:t>S.A.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fld id="{81D60167-4931-47E6-BA6A-407CBD079E47}" type="slidenum">
              <a:rPr spc="-25" dirty="0"/>
              <a:t>8</a:t>
            </a:fld>
            <a:endParaRPr spc="-25" dirty="0"/>
          </a:p>
        </p:txBody>
      </p:sp>
      <p:pic>
        <p:nvPicPr>
          <p:cNvPr id="6" name="Picture 5" descr="c_p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21792"/>
            <a:ext cx="4251960" cy="288228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522361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5F666D"/>
                </a:solidFill>
                <a:latin typeface="Arial"/>
              </a:rPr>
              <a:t>Modelo 3D nuevo: Tanque_980E5_P4.step  ·  en naranja: tramo añadido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796681"/>
            <a:ext cx="4114800" cy="88504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B8A3E"/>
                </a:solidFill>
                <a:latin typeface="Arial"/>
              </a:rPr>
              <a:t>Ventaja: </a:t>
            </a:r>
            <a:r>
              <a:rPr sz="1050" b="0" i="0">
                <a:solidFill>
                  <a:srgbClr val="1B222A"/>
                </a:solidFill>
                <a:latin typeface="Arial"/>
              </a:rPr>
              <a:t>Conserva el techo y el fondo originales: los sensores de nivel y llenado no cambian de altura.</a:t>
            </a:r>
          </a:p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C92A2A"/>
                </a:solidFill>
                <a:latin typeface="Arial"/>
              </a:rPr>
              <a:t>Riesgo: </a:t>
            </a:r>
            <a:r>
              <a:rPr sz="1050" b="0" i="0">
                <a:solidFill>
                  <a:srgbClr val="1B222A"/>
                </a:solidFill>
                <a:latin typeface="Arial"/>
              </a:rPr>
              <a:t>Usa espacio lateral exterior; mueve los accesorios de la cara exterior.</a:t>
            </a:r>
          </a:p>
        </p:txBody>
      </p:sp>
      <p:sp>
        <p:nvSpPr>
          <p:cNvPr id="9" name="Capacidad"/>
          <p:cNvSpPr/>
          <p:nvPr/>
        </p:nvSpPr>
        <p:spPr>
          <a:xfrm>
            <a:off x="4709160" y="658368"/>
            <a:ext cx="4069080" cy="786384"/>
          </a:xfrm>
          <a:prstGeom prst="roundRect">
            <a:avLst>
              <a:gd name="adj" fmla="val 8000"/>
            </a:avLst>
          </a:prstGeom>
          <a:solidFill>
            <a:srgbClr val="ECE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846320" y="676656"/>
            <a:ext cx="2011680" cy="7498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000" b="1" i="0">
                <a:solidFill>
                  <a:srgbClr val="13099A"/>
                </a:solidFill>
                <a:latin typeface="Arial"/>
              </a:rPr>
              <a:t>1,705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694944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1" i="0">
                <a:solidFill>
                  <a:srgbClr val="13099A"/>
                </a:solidFill>
                <a:latin typeface="Arial"/>
              </a:rPr>
              <a:t>gal útiles</a:t>
            </a:r>
          </a:p>
          <a:p>
            <a:pPr algn="l"/>
            <a:r>
              <a:rPr sz="1000" b="0" i="0">
                <a:solidFill>
                  <a:srgbClr val="1B222A"/>
                </a:solidFill>
                <a:latin typeface="Arial"/>
              </a:rPr>
              <a:t>+289 gal (+20.4%) vs actual</a:t>
            </a:r>
          </a:p>
          <a:p>
            <a:pPr algn="l"/>
            <a:r>
              <a:rPr sz="1000" b="0" i="0">
                <a:solidFill>
                  <a:srgbClr val="5F666D"/>
                </a:solidFill>
                <a:latin typeface="Arial"/>
              </a:rPr>
              <a:t>Bruto: 1,822 gal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709160" y="1554480"/>
          <a:ext cx="4069080" cy="13167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17320"/>
                <a:gridCol w="1005840"/>
                <a:gridCol w="548640"/>
                <a:gridCol w="548640"/>
                <a:gridCol w="54864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Tramo añadido</a:t>
                      </a:r>
                    </a:p>
                  </a:txBody>
                  <a:tcPr marL="45720" marR="45720" marT="18288" marB="18288" anchor="ctr">
                    <a:solidFill>
                      <a:srgbClr val="1309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Aumento</a:t>
                      </a:r>
                    </a:p>
                  </a:txBody>
                  <a:tcPr marL="45720" marR="45720" marT="18288" marB="18288" anchor="ctr">
                    <a:solidFill>
                      <a:srgbClr val="1309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+gal</a:t>
                      </a:r>
                    </a:p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bruto</a:t>
                      </a:r>
                    </a:p>
                  </a:txBody>
                  <a:tcPr marL="45720" marR="45720" marT="18288" marB="18288" anchor="ctr">
                    <a:solidFill>
                      <a:srgbClr val="1309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+gal</a:t>
                      </a:r>
                    </a:p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útil</a:t>
                      </a:r>
                    </a:p>
                  </a:txBody>
                  <a:tcPr marL="45720" marR="45720" marT="18288" marB="18288" anchor="ctr">
                    <a:solidFill>
                      <a:srgbClr val="1309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gal/</a:t>
                      </a:r>
                    </a:p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100mm</a:t>
                      </a:r>
                    </a:p>
                  </a:txBody>
                  <a:tcPr marL="45720" marR="45720" marT="18288" marB="18288" anchor="ctr">
                    <a:solidFill>
                      <a:srgbClr val="13099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B222A"/>
                          </a:solidFill>
                          <a:latin typeface="Arial"/>
                        </a:rPr>
                        <a:t>Tramo posterior (envolvente OEM)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+220 mm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hacia atrás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+181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+170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82.5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B222A"/>
                          </a:solidFill>
                          <a:latin typeface="Arial"/>
                        </a:rPr>
                        <a:t>Tramo lateral exterior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+180 mm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hacia afuera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+128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+119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73.6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B222A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8288" marB="18288" anchor="ctr">
                    <a:solidFill>
                      <a:srgbClr val="FFF0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0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1B222A"/>
                          </a:solidFill>
                          <a:latin typeface="Arial"/>
                        </a:rPr>
                        <a:t>+309</a:t>
                      </a:r>
                    </a:p>
                  </a:txBody>
                  <a:tcPr marL="45720" marR="45720" marT="18288" marB="18288" anchor="ctr">
                    <a:solidFill>
                      <a:srgbClr val="FFF0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E8590C"/>
                          </a:solidFill>
                          <a:latin typeface="Arial"/>
                        </a:rPr>
                        <a:t>+289</a:t>
                      </a:r>
                    </a:p>
                  </a:txBody>
                  <a:tcPr marL="45720" marR="45720" marT="18288" marB="18288" anchor="ctr">
                    <a:solidFill>
                      <a:srgbClr val="FFF0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0E6"/>
                    </a:solidFill>
                  </a:tcPr>
                </a:tc>
              </a:tr>
            </a:tbl>
          </a:graphicData>
        </a:graphic>
      </p:graphicFrame>
      <p:sp>
        <p:nvSpPr>
          <p:cNvPr id="13" name="Oval 12"/>
          <p:cNvSpPr/>
          <p:nvPr/>
        </p:nvSpPr>
        <p:spPr>
          <a:xfrm>
            <a:off x="4727448" y="3118103"/>
            <a:ext cx="219456" cy="219456"/>
          </a:xfrm>
          <a:prstGeom prst="ellipse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3035808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0" i="0">
                <a:solidFill>
                  <a:srgbClr val="1B222A"/>
                </a:solidFill>
                <a:latin typeface="Arial"/>
              </a:rPr>
              <a:t>Frente: sin cambio (holgura de 700 mm intacta)</a:t>
            </a:r>
          </a:p>
        </p:txBody>
      </p:sp>
      <p:sp>
        <p:nvSpPr>
          <p:cNvPr id="15" name="Oval 14"/>
          <p:cNvSpPr/>
          <p:nvPr/>
        </p:nvSpPr>
        <p:spPr>
          <a:xfrm>
            <a:off x="4727448" y="3520439"/>
            <a:ext cx="219456" cy="219456"/>
          </a:xfrm>
          <a:prstGeom prst="ellipse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438144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0" i="0">
                <a:solidFill>
                  <a:srgbClr val="1B222A"/>
                </a:solidFill>
                <a:latin typeface="Arial"/>
              </a:rPr>
              <a:t>Base–piso: sin cambio (≈1.21 m)</a:t>
            </a:r>
          </a:p>
        </p:txBody>
      </p:sp>
      <p:sp>
        <p:nvSpPr>
          <p:cNvPr id="17" name="Oval 16"/>
          <p:cNvSpPr/>
          <p:nvPr/>
        </p:nvSpPr>
        <p:spPr>
          <a:xfrm>
            <a:off x="4727448" y="3922776"/>
            <a:ext cx="219456" cy="219456"/>
          </a:xfrm>
          <a:prstGeom prst="ellipse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840480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0" i="0">
                <a:solidFill>
                  <a:srgbClr val="1B222A"/>
                </a:solidFill>
                <a:latin typeface="Arial"/>
              </a:rPr>
              <a:t>Atrás 220 mm: quedan 680 mm a la llanta (≥550) y 230 mm al brazo (OEM)</a:t>
            </a:r>
          </a:p>
        </p:txBody>
      </p:sp>
      <p:sp>
        <p:nvSpPr>
          <p:cNvPr id="19" name="Oval 18"/>
          <p:cNvSpPr/>
          <p:nvPr/>
        </p:nvSpPr>
        <p:spPr>
          <a:xfrm>
            <a:off x="4727448" y="4325112"/>
            <a:ext cx="219456" cy="219456"/>
          </a:xfrm>
          <a:prstGeom prst="ellipse">
            <a:avLst/>
          </a:prstGeom>
          <a:solidFill>
            <a:srgbClr val="E6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4242816"/>
            <a:ext cx="3749039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0" i="0">
                <a:solidFill>
                  <a:srgbClr val="1B222A"/>
                </a:solidFill>
                <a:latin typeface="Arial"/>
              </a:rPr>
              <a:t>Lateral +180 mm: validar ancho, accesos y escalera; reubicar boca de llenado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8915400" cy="0"/>
          </a:xfrm>
        </p:spPr>
        <p:txBody>
          <a:bodyPr/>
          <a:lstStyle/>
          <a:p>
            <a:r>
              <a:t>Verificación de altura base–piso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Komatsu</a:t>
            </a:r>
            <a:r>
              <a:rPr spc="-35" dirty="0"/>
              <a:t> </a:t>
            </a:r>
            <a:r>
              <a:rPr dirty="0"/>
              <a:t>-</a:t>
            </a:r>
            <a:r>
              <a:rPr spc="-10" dirty="0"/>
              <a:t> </a:t>
            </a:r>
            <a:r>
              <a:rPr dirty="0"/>
              <a:t>Mitsui </a:t>
            </a:r>
            <a:r>
              <a:rPr spc="-10" dirty="0"/>
              <a:t>Maquinarias</a:t>
            </a:r>
            <a:r>
              <a:rPr dirty="0"/>
              <a:t> Perú</a:t>
            </a:r>
            <a:r>
              <a:rPr spc="-10" dirty="0"/>
              <a:t> </a:t>
            </a:r>
            <a:r>
              <a:rPr spc="-20" dirty="0"/>
              <a:t>S.A.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fld id="{81D60167-4931-47E6-BA6A-407CBD079E47}" type="slidenum">
              <a:rPr spc="-25" dirty="0"/>
              <a:t>9</a:t>
            </a:fld>
            <a:endParaRPr spc="-25" dirty="0"/>
          </a:p>
        </p:txBody>
      </p:sp>
      <p:pic>
        <p:nvPicPr>
          <p:cNvPr id="6" name="Picture 5" descr="side_clear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40080"/>
            <a:ext cx="8412480" cy="175894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2417310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5F666D"/>
                </a:solidFill>
                <a:latin typeface="Arial"/>
              </a:rPr>
              <a:t>Vista lateral esquemática a escala (m). Gris: tanque actual · Naranja: tramo añadido · Cotas en mm: holgura a llantas a la altura del eje.</a:t>
            </a:r>
          </a:p>
        </p:txBody>
      </p:sp>
      <p:sp>
        <p:nvSpPr>
          <p:cNvPr id="8" name="Confirmado"/>
          <p:cNvSpPr/>
          <p:nvPr/>
        </p:nvSpPr>
        <p:spPr>
          <a:xfrm>
            <a:off x="365760" y="2728206"/>
            <a:ext cx="4114800" cy="1417320"/>
          </a:xfrm>
          <a:prstGeom prst="roundRect">
            <a:avLst>
              <a:gd name="adj" fmla="val 8000"/>
            </a:avLst>
          </a:prstGeom>
          <a:solidFill>
            <a:srgbClr val="EBF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502920" y="2856222"/>
            <a:ext cx="274320" cy="274320"/>
          </a:xfrm>
          <a:prstGeom prst="ellipse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19646"/>
            <a:ext cx="3520440" cy="1280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2B8A3E"/>
                </a:solidFill>
                <a:latin typeface="Arial"/>
              </a:rPr>
              <a:t>P3 y P4: confirmado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B222A"/>
                </a:solidFill>
                <a:latin typeface="Arial"/>
              </a:rPr>
              <a:t>La base queda donde está (≈1.21 m). Se crece solo hacia atrás, arriba o afuera, y la holgura de 700 mm a la llanta delantera se mantiene.</a:t>
            </a:r>
          </a:p>
        </p:txBody>
      </p:sp>
      <p:sp>
        <p:nvSpPr>
          <p:cNvPr id="11" name="No confirmado"/>
          <p:cNvSpPr/>
          <p:nvPr/>
        </p:nvSpPr>
        <p:spPr>
          <a:xfrm>
            <a:off x="4663440" y="2728206"/>
            <a:ext cx="4114800" cy="1417320"/>
          </a:xfrm>
          <a:prstGeom prst="roundRect">
            <a:avLst>
              <a:gd name="adj" fmla="val 8000"/>
            </a:avLst>
          </a:prstGeom>
          <a:solidFill>
            <a:srgbClr val="FF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4800600" y="2856222"/>
            <a:ext cx="274320" cy="274320"/>
          </a:xfrm>
          <a:prstGeom prst="ellipse">
            <a:avLst/>
          </a:prstGeom>
          <a:solidFill>
            <a:srgbClr val="C9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2819646"/>
            <a:ext cx="3520440" cy="1280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92A2A"/>
                </a:solidFill>
                <a:latin typeface="Arial"/>
              </a:rPr>
              <a:t>P1 y P2: no se puede confirmar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B222A"/>
                </a:solidFill>
                <a:latin typeface="Arial"/>
              </a:rPr>
              <a:t>El tramo inferior baja la base 300 mm (≈0.91 m). Se debe validar contra el punto más bajo del camión, la escalera y los soportes bajo el tanque, y el riesgo de impacto con rocas.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209534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b="0" i="0">
                <a:solidFill>
                  <a:srgbClr val="5F666D"/>
                </a:solidFill>
                <a:latin typeface="Arial"/>
              </a:rPr>
              <a:t>Altura estimada con la medición de campo (1,605 mm de tope a eje) y un radio bajo carga ≈1.90 m de la llanta 56/80R63. Confirmar con wincha en campo antes de liberar el diseño.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8915400" cy="0"/>
          </a:xfrm>
        </p:spPr>
        <p:txBody>
          <a:bodyPr/>
          <a:lstStyle/>
          <a:p>
            <a:r>
              <a:t>Comparativo de propuestas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Komatsu</a:t>
            </a:r>
            <a:r>
              <a:rPr spc="-35" dirty="0"/>
              <a:t> </a:t>
            </a:r>
            <a:r>
              <a:rPr dirty="0"/>
              <a:t>-</a:t>
            </a:r>
            <a:r>
              <a:rPr spc="-10" dirty="0"/>
              <a:t> </a:t>
            </a:r>
            <a:r>
              <a:rPr dirty="0"/>
              <a:t>Mitsui </a:t>
            </a:r>
            <a:r>
              <a:rPr spc="-10" dirty="0"/>
              <a:t>Maquinarias</a:t>
            </a:r>
            <a:r>
              <a:rPr dirty="0"/>
              <a:t> Perú</a:t>
            </a:r>
            <a:r>
              <a:rPr spc="-10" dirty="0"/>
              <a:t> </a:t>
            </a:r>
            <a:r>
              <a:rPr spc="-20" dirty="0"/>
              <a:t>S.A.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fld id="{81D60167-4931-47E6-BA6A-407CBD079E47}" type="slidenum">
              <a:rPr spc="-25" dirty="0"/>
              <a:t>10</a:t>
            </a:fld>
            <a:endParaRPr spc="-25" dirty="0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274320" y="914400"/>
          <a:ext cx="384048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658368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13099A"/>
                </a:solidFill>
                <a:latin typeface="Arial"/>
              </a:rPr>
              <a:t>Capacidad útil (gal) · meta 1,700 gal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31596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5F666D"/>
                </a:solidFill>
                <a:latin typeface="Arial"/>
              </a:rPr>
              <a:t>Eje desde 1,200 gal. En azul la propuesta recomendada.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343400" y="713232"/>
          <a:ext cx="4434839" cy="30083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74519"/>
                <a:gridCol w="640080"/>
                <a:gridCol w="640080"/>
                <a:gridCol w="640080"/>
                <a:gridCol w="640080"/>
              </a:tblGrid>
              <a:tr h="429768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Criterio</a:t>
                      </a:r>
                    </a:p>
                  </a:txBody>
                  <a:tcPr marL="45720" marR="45720" marT="18288" marB="18288" anchor="ctr">
                    <a:solidFill>
                      <a:srgbClr val="1309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P1</a:t>
                      </a:r>
                    </a:p>
                  </a:txBody>
                  <a:tcPr marL="45720" marR="45720" marT="18288" marB="18288" anchor="ctr">
                    <a:solidFill>
                      <a:srgbClr val="1309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L="45720" marR="45720" marT="18288" marB="18288" anchor="ctr">
                    <a:solidFill>
                      <a:srgbClr val="1309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45720" marR="45720" marT="18288" marB="18288" anchor="ctr">
                    <a:solidFill>
                      <a:srgbClr val="1309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P4</a:t>
                      </a:r>
                    </a:p>
                  </a:txBody>
                  <a:tcPr marL="45720" marR="45720" marT="18288" marB="18288" anchor="ctr">
                    <a:solidFill>
                      <a:srgbClr val="13099A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Capacidad útil ≥1,700 gal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E67700"/>
                          </a:solidFill>
                          <a:latin typeface="Arial"/>
                        </a:rPr>
                        <a:t>≈ (1,695)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B8A3E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B8A3E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 anchor="ctr">
                    <a:solidFill>
                      <a:srgbClr val="ECEB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B8A3E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No crece hacia la llanta delantera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B8A3E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B8A3E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B8A3E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 anchor="ctr">
                    <a:solidFill>
                      <a:srgbClr val="ECEB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B8A3E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Altura base–piso sin cambio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C92A2A"/>
                          </a:solidFill>
                          <a:latin typeface="Arial"/>
                        </a:rPr>
                        <a:t>✕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C92A2A"/>
                          </a:solidFill>
                          <a:latin typeface="Arial"/>
                        </a:rPr>
                        <a:t>✕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B8A3E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 anchor="ctr">
                    <a:solidFill>
                      <a:srgbClr val="ECEB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B8A3E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Holgura posterior ≥550 mm a llanta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B8A3E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B8A3E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B8A3E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 anchor="ctr">
                    <a:solidFill>
                      <a:srgbClr val="ECEB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B8A3E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Sensores sin cambio de altura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C92A2A"/>
                          </a:solidFill>
                          <a:latin typeface="Arial"/>
                        </a:rPr>
                        <a:t>✕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C92A2A"/>
                          </a:solidFill>
                          <a:latin typeface="Arial"/>
                        </a:rPr>
                        <a:t>✕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E67700"/>
                          </a:solidFill>
                          <a:latin typeface="Arial"/>
                        </a:rPr>
                        <a:t>!</a:t>
                      </a:r>
                    </a:p>
                  </a:txBody>
                  <a:tcPr marL="45720" marR="45720" marT="18288" marB="18288" anchor="ctr">
                    <a:solidFill>
                      <a:srgbClr val="ECEB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B8A3E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222A"/>
                          </a:solidFill>
                          <a:latin typeface="Arial"/>
                        </a:rPr>
                        <a:t>Validación de campo pendiente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222A"/>
                          </a:solidFill>
                          <a:latin typeface="Arial"/>
                        </a:rPr>
                        <a:t>Altura</a:t>
                      </a:r>
                    </a:p>
                    <a:p>
                      <a:pPr algn="ctr"/>
                      <a:r>
                        <a:rPr sz="900" b="0" i="0">
                          <a:solidFill>
                            <a:srgbClr val="1B222A"/>
                          </a:solidFill>
                          <a:latin typeface="Arial"/>
                        </a:rPr>
                        <a:t>libre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222A"/>
                          </a:solidFill>
                          <a:latin typeface="Arial"/>
                        </a:rPr>
                        <a:t>Altura</a:t>
                      </a:r>
                    </a:p>
                    <a:p>
                      <a:pPr algn="ctr"/>
                      <a:r>
                        <a:rPr sz="900" b="0" i="0">
                          <a:solidFill>
                            <a:srgbClr val="1B222A"/>
                          </a:solidFill>
                          <a:latin typeface="Arial"/>
                        </a:rPr>
                        <a:t>libre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222A"/>
                          </a:solidFill>
                          <a:latin typeface="Arial"/>
                        </a:rPr>
                        <a:t>Holgura</a:t>
                      </a:r>
                    </a:p>
                    <a:p>
                      <a:pPr algn="ctr"/>
                      <a:r>
                        <a:rPr sz="900" b="0" i="0">
                          <a:solidFill>
                            <a:srgbClr val="1B222A"/>
                          </a:solidFill>
                          <a:latin typeface="Arial"/>
                        </a:rPr>
                        <a:t>superior</a:t>
                      </a:r>
                    </a:p>
                  </a:txBody>
                  <a:tcPr marL="45720" marR="45720" marT="18288" marB="18288" anchor="ctr">
                    <a:solidFill>
                      <a:srgbClr val="ECEB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222A"/>
                          </a:solidFill>
                          <a:latin typeface="Arial"/>
                        </a:rPr>
                        <a:t>Ancho y</a:t>
                      </a:r>
                    </a:p>
                    <a:p>
                      <a:pPr algn="ctr"/>
                      <a:r>
                        <a:rPr sz="900" b="0" i="0">
                          <a:solidFill>
                            <a:srgbClr val="1B222A"/>
                          </a:solidFill>
                          <a:latin typeface="Arial"/>
                        </a:rPr>
                        <a:t>accesos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343400" y="4224528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2B8A3E"/>
                </a:solidFill>
                <a:latin typeface="Arial"/>
              </a:rPr>
              <a:t>✓</a:t>
            </a:r>
            <a:r>
              <a:rPr sz="1000" b="0" i="0">
                <a:solidFill>
                  <a:srgbClr val="5F666D"/>
                </a:solidFill>
                <a:latin typeface="Arial"/>
              </a:rPr>
              <a:t> cumple   </a:t>
            </a:r>
            <a:r>
              <a:rPr sz="1000" b="1" i="0">
                <a:solidFill>
                  <a:srgbClr val="E67700"/>
                </a:solidFill>
                <a:latin typeface="Arial"/>
              </a:rPr>
              <a:t>!</a:t>
            </a:r>
            <a:r>
              <a:rPr sz="1000" b="0" i="0">
                <a:solidFill>
                  <a:srgbClr val="5F666D"/>
                </a:solidFill>
                <a:latin typeface="Arial"/>
              </a:rPr>
              <a:t> requiere ajuste menor   </a:t>
            </a:r>
            <a:r>
              <a:rPr sz="1000" b="1" i="0">
                <a:solidFill>
                  <a:srgbClr val="C92A2A"/>
                </a:solidFill>
                <a:latin typeface="Arial"/>
              </a:rPr>
              <a:t>✕</a:t>
            </a:r>
            <a:r>
              <a:rPr sz="1000" b="0" i="0">
                <a:solidFill>
                  <a:srgbClr val="5F666D"/>
                </a:solidFill>
                <a:latin typeface="Arial"/>
              </a:rPr>
              <a:t> no cumple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8915400" cy="0"/>
          </a:xfrm>
        </p:spPr>
        <p:txBody>
          <a:bodyPr/>
          <a:lstStyle/>
          <a:p>
            <a:r>
              <a:t>Recomendación y próximos pasos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Komatsu</a:t>
            </a:r>
            <a:r>
              <a:rPr spc="-35" dirty="0"/>
              <a:t> </a:t>
            </a:r>
            <a:r>
              <a:rPr dirty="0"/>
              <a:t>-</a:t>
            </a:r>
            <a:r>
              <a:rPr spc="-10" dirty="0"/>
              <a:t> </a:t>
            </a:r>
            <a:r>
              <a:rPr dirty="0"/>
              <a:t>Mitsui </a:t>
            </a:r>
            <a:r>
              <a:rPr spc="-10" dirty="0"/>
              <a:t>Maquinarias</a:t>
            </a:r>
            <a:r>
              <a:rPr dirty="0"/>
              <a:t> Perú</a:t>
            </a:r>
            <a:r>
              <a:rPr spc="-10" dirty="0"/>
              <a:t> </a:t>
            </a:r>
            <a:r>
              <a:rPr spc="-20" dirty="0"/>
              <a:t>S.A.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fld id="{81D60167-4931-47E6-BA6A-407CBD079E47}" type="slidenum">
              <a:rPr spc="-25" dirty="0"/>
              <a:t>11</a:t>
            </a:fld>
            <a:endParaRPr spc="-25" dirty="0"/>
          </a:p>
        </p:txBody>
      </p:sp>
      <p:sp>
        <p:nvSpPr>
          <p:cNvPr id="6" name="Recomendación P3"/>
          <p:cNvSpPr/>
          <p:nvPr/>
        </p:nvSpPr>
        <p:spPr>
          <a:xfrm>
            <a:off x="365760" y="685800"/>
            <a:ext cx="3931920" cy="3931920"/>
          </a:xfrm>
          <a:prstGeom prst="roundRect">
            <a:avLst>
              <a:gd name="adj" fmla="val 8000"/>
            </a:avLst>
          </a:prstGeom>
          <a:solidFill>
            <a:srgbClr val="ECE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5F666D"/>
                </a:solidFill>
                <a:latin typeface="Arial"/>
              </a:rPr>
              <a:t>PROPUESTA RECOMENDADA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356616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>
                <a:solidFill>
                  <a:srgbClr val="13099A"/>
                </a:solidFill>
                <a:latin typeface="Arial"/>
              </a:rPr>
              <a:t>P3 · Posterior 220 mm + superior 160 mm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356616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000" b="1" i="0">
                <a:solidFill>
                  <a:srgbClr val="13099A"/>
                </a:solidFill>
                <a:latin typeface="Arial"/>
              </a:rPr>
              <a:t>1,707</a:t>
            </a:r>
            <a:r>
              <a:rPr sz="1300" b="1" i="0">
                <a:solidFill>
                  <a:srgbClr val="13099A"/>
                </a:solidFill>
                <a:latin typeface="Arial"/>
              </a:rPr>
              <a:t> gal útiles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150" b="1" i="0">
                <a:solidFill>
                  <a:srgbClr val="13099A"/>
                </a:solidFill>
                <a:latin typeface="Arial"/>
              </a:rPr>
              <a:t>•  </a:t>
            </a:r>
            <a:r>
              <a:rPr sz="1150" b="0" i="0">
                <a:solidFill>
                  <a:srgbClr val="1B222A"/>
                </a:solidFill>
                <a:latin typeface="Arial"/>
              </a:rPr>
              <a:t>+291 gal (+21%) de autonomía entre recargas</a:t>
            </a:r>
          </a:p>
          <a:p>
            <a:pPr algn="l">
              <a:spcAft>
                <a:spcPts val="600"/>
              </a:spcAft>
            </a:pPr>
            <a:r>
              <a:rPr sz="1150" b="1" i="0">
                <a:solidFill>
                  <a:srgbClr val="13099A"/>
                </a:solidFill>
                <a:latin typeface="Arial"/>
              </a:rPr>
              <a:t>•  </a:t>
            </a:r>
            <a:r>
              <a:rPr sz="1150" b="0" i="0">
                <a:solidFill>
                  <a:srgbClr val="1B222A"/>
                </a:solidFill>
                <a:latin typeface="Arial"/>
              </a:rPr>
              <a:t>Sin cambios hacia la llanta delantera ni en la altura base–piso</a:t>
            </a:r>
          </a:p>
          <a:p>
            <a:pPr algn="l">
              <a:spcAft>
                <a:spcPts val="600"/>
              </a:spcAft>
            </a:pPr>
            <a:r>
              <a:rPr sz="1150" b="1" i="0">
                <a:solidFill>
                  <a:srgbClr val="13099A"/>
                </a:solidFill>
                <a:latin typeface="Arial"/>
              </a:rPr>
              <a:t>•  </a:t>
            </a:r>
            <a:r>
              <a:rPr sz="1150" b="0" i="0">
                <a:solidFill>
                  <a:srgbClr val="1B222A"/>
                </a:solidFill>
                <a:latin typeface="Arial"/>
              </a:rPr>
              <a:t>Parte de la extensión posterior que OEM ya revisó en campo (220 mm)</a:t>
            </a:r>
          </a:p>
          <a:p>
            <a:pPr algn="l">
              <a:spcAft>
                <a:spcPts val="600"/>
              </a:spcAft>
            </a:pPr>
            <a:r>
              <a:rPr sz="1150" b="1" i="0">
                <a:solidFill>
                  <a:srgbClr val="13099A"/>
                </a:solidFill>
                <a:latin typeface="Arial"/>
              </a:rPr>
              <a:t>•  </a:t>
            </a:r>
            <a:r>
              <a:rPr sz="1150" b="0" i="0">
                <a:solidFill>
                  <a:srgbClr val="1B222A"/>
                </a:solidFill>
                <a:latin typeface="Arial"/>
              </a:rPr>
              <a:t>+0.9 t de combustible a tanque lleno (≈0.3% de la carga útil)</a:t>
            </a:r>
          </a:p>
          <a:p>
            <a:pPr algn="l">
              <a:spcAft>
                <a:spcPts val="600"/>
              </a:spcAft>
            </a:pPr>
            <a:r>
              <a:rPr sz="1150" b="1" i="0">
                <a:solidFill>
                  <a:srgbClr val="13099A"/>
                </a:solidFill>
                <a:latin typeface="Arial"/>
              </a:rPr>
              <a:t>•  </a:t>
            </a:r>
            <a:r>
              <a:rPr sz="1150" b="0" i="0">
                <a:solidFill>
                  <a:srgbClr val="1B222A"/>
                </a:solidFill>
                <a:latin typeface="Arial"/>
              </a:rPr>
              <a:t>Alternativa: P4, si no se confirma la holgura superior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0" y="804672"/>
            <a:ext cx="402336" cy="402336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713232"/>
            <a:ext cx="3657600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3099A"/>
                </a:solidFill>
                <a:latin typeface="Arial"/>
              </a:rPr>
              <a:t>Validar en campo</a:t>
            </a:r>
          </a:p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1B222A"/>
                </a:solidFill>
                <a:latin typeface="Arial"/>
              </a:rPr>
              <a:t>Holgura superior (≥160 mm + margen) y altura base–piso real con wincha.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0" y="1591056"/>
            <a:ext cx="402336" cy="402336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1499616"/>
            <a:ext cx="3657600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3099A"/>
                </a:solidFill>
                <a:latin typeface="Arial"/>
              </a:rPr>
              <a:t>Revisar con OEM (PSG EDT)</a:t>
            </a:r>
          </a:p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1B222A"/>
                </a:solidFill>
                <a:latin typeface="Arial"/>
              </a:rPr>
              <a:t>Envolvente posterior, venteos, sensor jet y garantía.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0" y="2377440"/>
            <a:ext cx="402336" cy="402336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286000"/>
            <a:ext cx="3657600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3099A"/>
                </a:solidFill>
                <a:latin typeface="Arial"/>
              </a:rPr>
              <a:t>Ingeniería de detalle</a:t>
            </a:r>
          </a:p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1B222A"/>
                </a:solidFill>
                <a:latin typeface="Arial"/>
              </a:rPr>
              <a:t>Planos de fabricación, FEA (presión hidrostática, vibración, soportes) y peso.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0" y="3163824"/>
            <a:ext cx="402336" cy="402336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3072384"/>
            <a:ext cx="3657600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3099A"/>
                </a:solidFill>
                <a:latin typeface="Arial"/>
              </a:rPr>
              <a:t>Prototipo y pruebas</a:t>
            </a:r>
          </a:p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1B222A"/>
                </a:solidFill>
                <a:latin typeface="Arial"/>
              </a:rPr>
              <a:t>Fabricación, prueba de estanqueidad y recalibración del sensor de nivel.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0" y="3950207"/>
            <a:ext cx="402336" cy="402336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3858768"/>
            <a:ext cx="3657600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3099A"/>
                </a:solidFill>
                <a:latin typeface="Arial"/>
              </a:rPr>
              <a:t>Piloto en un camión</a:t>
            </a:r>
          </a:p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1B222A"/>
                </a:solidFill>
                <a:latin typeface="Arial"/>
              </a:rPr>
              <a:t>Seguimiento de fugas, fisuras y holguras antes de extender a la flota.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</TotalTime>
  <Words>3698</Words>
  <Application>Microsoft Office PowerPoint</Application>
  <PresentationFormat>Presentación en pantalla (16:9)</PresentationFormat>
  <Paragraphs>2087</Paragraphs>
  <Slides>33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33</vt:i4>
      </vt:variant>
    </vt:vector>
  </HeadingPairs>
  <TitlesOfParts>
    <vt:vector size="37" baseType="lpstr">
      <vt:lpstr>Arial</vt:lpstr>
      <vt:lpstr>Calibri</vt:lpstr>
      <vt:lpstr>Times New Roman</vt:lpstr>
      <vt:lpstr>Office Theme</vt:lpstr>
      <vt:lpstr>Estado de Componentes Flota 980E–5 Semana 40</vt:lpstr>
      <vt:lpstr>Estado de Componentes</vt:lpstr>
      <vt:lpstr>Hotsheet General</vt:lpstr>
      <vt:lpstr>Hotsheet Componentes menores</vt:lpstr>
      <vt:lpstr>Estado de Motores Diesel</vt:lpstr>
      <vt:lpstr>Estado de Motores Diesel</vt:lpstr>
      <vt:lpstr>Estado de Motores de Tracción</vt:lpstr>
      <vt:lpstr>Estado de Motores de Tracción</vt:lpstr>
      <vt:lpstr>CM401: MT LH – Criticidad N2</vt:lpstr>
      <vt:lpstr>CM410: MT RH – Criticidad N2</vt:lpstr>
      <vt:lpstr>CM406: MT RH – Criticidad N2</vt:lpstr>
      <vt:lpstr>Estado de Ruedas Delanteras</vt:lpstr>
      <vt:lpstr>Estado de Ruedas Delanteras</vt:lpstr>
      <vt:lpstr>CM410: RD LH – Criticidad N3</vt:lpstr>
      <vt:lpstr>Estado de Sistema Hidráulico</vt:lpstr>
      <vt:lpstr>Ranking Sistema Hidráulico</vt:lpstr>
      <vt:lpstr>Estado de Cilindros de Dirección</vt:lpstr>
      <vt:lpstr>Estatus de cilindros de dirección</vt:lpstr>
      <vt:lpstr>Evidencia de cilindros de dirección</vt:lpstr>
      <vt:lpstr>Estado de Cilindros de suspensión posterior</vt:lpstr>
      <vt:lpstr>Estatus de cilindros de suspensión</vt:lpstr>
      <vt:lpstr>Estatus de cilindros de suspensión</vt:lpstr>
      <vt:lpstr>Seguimiento Estado de Blowers</vt:lpstr>
      <vt:lpstr>Estado de Blowers</vt:lpstr>
      <vt:lpstr>Estado de Cables de Potencia</vt:lpstr>
      <vt:lpstr>Estatus cables de potencia</vt:lpstr>
      <vt:lpstr>Estado de Vibración de Alternador</vt:lpstr>
      <vt:lpstr>Estado de vibración de rodamiento de alternador</vt:lpstr>
      <vt:lpstr>Estado de Frenos de Parqueo</vt:lpstr>
      <vt:lpstr>Desgaste de frenos de parqueo</vt:lpstr>
      <vt:lpstr>Estado de Bombas</vt:lpstr>
      <vt:lpstr>Estado de bomba de dirección</vt:lpstr>
      <vt:lpstr>Estado de bomba de levante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Humberto Vasquez Teran</dc:creator>
  <cp:lastModifiedBy>Samir Cedillo Preciado</cp:lastModifiedBy>
  <cp:revision>1</cp:revision>
  <dcterms:created xsi:type="dcterms:W3CDTF">2026-10-11T13:44:04Z</dcterms:created>
  <dcterms:modified xsi:type="dcterms:W3CDTF">2026-10-11T14:17:44Z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2026-10-10T00:00:00Z</vt:filetime>
  </property>
  <property fmtid="{D5CDD505-2E9C-101B-9397-08002B2CF9AE}" pid="4" name="Creator">
    <vt:lpwstr>Microsoft® PowerPoint® para Microsoft 365</vt:lpwstr>
  </property>
  <property fmtid="{D5CDD505-2E9C-101B-9397-08002B2CF9AE}" pid="5" name="LastSaved">
    <vt:filetime>2026-10-11T00:00:00Z</vt:filetime>
  </property>
  <property fmtid="{D5CDD505-2E9C-101B-9397-08002B2CF9AE}" pid="6" name="Producer">
    <vt:lpwstr>Microsoft® PowerPoint® para Microsoft 365</vt:lpwstr>
  </property>
</Properties>
</file>