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194" y="7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gal / 100 mm</c:v>
                </c:pt>
              </c:strCache>
            </c:strRef>
          </c:tx>
          <c:spPr>
            <a:solidFill>
              <a:srgbClr val="E8590C"/>
            </a:solidFill>
          </c:spPr>
          <c:cat>
            <c:strRef>
              <c:f>Sheet1!$A$2:$A$6</c:f>
              <c:strCache>
                <c:ptCount val="5"/>
                <c:pt idx="0">
                  <c:v>Caja posterior superior (P1)</c:v>
                </c:pt>
                <c:pt idx="1">
                  <c:v>Inferior / superior, huella actual (P1, P2)</c:v>
                </c:pt>
                <c:pt idx="2">
                  <c:v>Lateral exterior (P4)</c:v>
                </c:pt>
                <c:pt idx="3">
                  <c:v>Superior, huella ampliada (P3)</c:v>
                </c:pt>
                <c:pt idx="4">
                  <c:v>Posterior, envolvente OEM (P3, P4)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29.7</c:v>
                </c:pt>
                <c:pt idx="1">
                  <c:v>68.0</c:v>
                </c:pt>
                <c:pt idx="2">
                  <c:v>73.6</c:v>
                </c:pt>
                <c:pt idx="3">
                  <c:v>76.1</c:v>
                </c:pt>
                <c:pt idx="4">
                  <c:v>82.5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ED4DA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B222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Capacidad útil (gal)</c:v>
                </c:pt>
              </c:strCache>
            </c:strRef>
          </c:tx>
          <c:dPt>
            <c:idx val="0"/>
            <c:spPr>
              <a:solidFill>
                <a:srgbClr val="ADB5BD"/>
              </a:solidFill>
            </c:spPr>
          </c:dPt>
          <c:dPt>
            <c:idx val="1"/>
            <c:spPr>
              <a:solidFill>
                <a:srgbClr val="ADB5BD"/>
              </a:solidFill>
            </c:spPr>
          </c:dPt>
          <c:dPt>
            <c:idx val="2"/>
            <c:spPr>
              <a:solidFill>
                <a:srgbClr val="E8590C"/>
              </a:solidFill>
            </c:spPr>
          </c:dPt>
          <c:dPt>
            <c:idx val="3"/>
            <c:spPr>
              <a:solidFill>
                <a:srgbClr val="E8590C"/>
              </a:solidFill>
            </c:spPr>
          </c:dPt>
          <c:dPt>
            <c:idx val="4"/>
            <c:spPr>
              <a:solidFill>
                <a:srgbClr val="13099A"/>
              </a:solidFill>
            </c:spPr>
          </c:dPt>
          <c:dPt>
            <c:idx val="5"/>
            <c:spPr>
              <a:solidFill>
                <a:srgbClr val="E8590C"/>
              </a:solidFill>
            </c:spPr>
          </c:dPt>
          <c:cat>
            <c:strRef>
              <c:f>Sheet1!$A$2:$A$7</c:f>
              <c:strCache>
                <c:ptCount val="6"/>
                <c:pt idx="0">
                  <c:v>Actual</c:v>
                </c:pt>
                <c:pt idx="1">
                  <c:v>OEM</c:v>
                </c:pt>
                <c:pt idx="2">
                  <c:v>P1</c:v>
                </c:pt>
                <c:pt idx="3">
                  <c:v>P2</c:v>
                </c:pt>
                <c:pt idx="4">
                  <c:v>P3</c:v>
                </c:pt>
                <c:pt idx="5">
                  <c:v>P4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1416</c:v>
                </c:pt>
                <c:pt idx="1">
                  <c:v>1585</c:v>
                </c:pt>
                <c:pt idx="2">
                  <c:v>1696</c:v>
                </c:pt>
                <c:pt idx="3">
                  <c:v>1722</c:v>
                </c:pt>
                <c:pt idx="4">
                  <c:v>1708</c:v>
                </c:pt>
                <c:pt idx="5">
                  <c:v>1705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ED4DA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00.0"/>
          <c:min val="1200.0"/>
        </c:scaling>
        <c:delete val="0"/>
        <c:axPos val="l"/>
        <c:majorGridlines>
          <c:spPr>
            <a:ln>
              <a:solidFill>
                <a:srgbClr val="E9EC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1000">
          <a:solidFill>
            <a:srgbClr val="1B222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572" y="553415"/>
            <a:ext cx="2505961" cy="4690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22134" y="4486960"/>
            <a:ext cx="1767713" cy="261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63445" y="1311351"/>
            <a:ext cx="4494530" cy="13925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40004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6350">
            <a:solidFill>
              <a:srgbClr val="13099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540385"/>
          </a:xfrm>
          <a:custGeom>
            <a:avLst/>
            <a:gdLst/>
            <a:ahLst/>
            <a:cxnLst/>
            <a:rect l="l" t="t" r="r" b="b"/>
            <a:pathLst>
              <a:path w="9144000" h="540385">
                <a:moveTo>
                  <a:pt x="9144000" y="0"/>
                </a:moveTo>
                <a:lnTo>
                  <a:pt x="0" y="0"/>
                </a:lnTo>
                <a:lnTo>
                  <a:pt x="0" y="540003"/>
                </a:lnTo>
                <a:lnTo>
                  <a:pt x="9144000" y="540003"/>
                </a:lnTo>
                <a:lnTo>
                  <a:pt x="9144000" y="0"/>
                </a:lnTo>
                <a:close/>
              </a:path>
            </a:pathLst>
          </a:custGeom>
          <a:solidFill>
            <a:srgbClr val="1309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2916" y="4838461"/>
            <a:ext cx="876999" cy="165671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59244" y="4828369"/>
            <a:ext cx="404721" cy="236205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1973" y="4815864"/>
            <a:ext cx="1767713" cy="261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948" y="102565"/>
            <a:ext cx="6046165" cy="3555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97871" y="1034262"/>
            <a:ext cx="7784465" cy="1484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176517" y="4898332"/>
            <a:ext cx="2266950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6876" y="4896808"/>
            <a:ext cx="280670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13099A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‹Nº›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800" b="0" dirty="0">
                <a:solidFill>
                  <a:srgbClr val="13099A"/>
                </a:solidFill>
                <a:latin typeface="Arial"/>
                <a:cs typeface="Arial"/>
              </a:rPr>
              <a:t>Ampliación del Tanque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800" b="0" dirty="0">
                <a:solidFill>
                  <a:srgbClr val="13099A"/>
                </a:solidFill>
                <a:latin typeface="Arial"/>
                <a:cs typeface="Arial"/>
              </a:rPr>
              <a:t>de Combustible 980E–5</a:t>
            </a:r>
          </a:p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2800" b="0" dirty="0">
                <a:solidFill>
                  <a:srgbClr val="E8590C"/>
                </a:solidFill>
                <a:latin typeface="Arial"/>
                <a:cs typeface="Arial"/>
              </a:rPr>
              <a:t>Meta: 1,700 gal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3445" y="3304413"/>
            <a:ext cx="4114800" cy="818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1B222A"/>
                </a:solidFill>
                <a:latin typeface="Arial"/>
                <a:cs typeface="Arial"/>
              </a:rPr>
              <a:t>Toromocho</a:t>
            </a:r>
            <a:endParaRPr sz="240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1920"/>
              </a:spcBef>
            </a:pPr>
            <a:r>
              <a:rPr sz="1200" b="1" dirty="0">
                <a:solidFill>
                  <a:srgbClr val="1B222A"/>
                </a:solidFill>
                <a:latin typeface="Arial"/>
                <a:cs typeface="Arial"/>
              </a:rPr>
              <a:t>Propuestas de ingeniería · Octubre 2026</a:t>
            </a:r>
            <a:r>
              <a:rPr sz="1200" b="1" spc="-35" dirty="0">
                <a:solidFill>
                  <a:srgbClr val="1B222A"/>
                </a:solidFill>
                <a:latin typeface="Arial"/>
                <a:cs typeface="Arial"/>
              </a:rPr>
              <a:t/>
            </a:r>
            <a:r>
              <a:rPr sz="1200" b="1" spc="-20" dirty="0">
                <a:solidFill>
                  <a:srgbClr val="1B222A"/>
                </a:solidFill>
                <a:latin typeface="Arial"/>
                <a:cs typeface="Arial"/>
              </a:rPr>
              <a:t/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Resumen ejecutivo: 4 propuestas alcanzan ~1,700 gal útiles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6" name="KPI 1"/>
          <p:cNvSpPr/>
          <p:nvPr/>
        </p:nvSpPr>
        <p:spPr>
          <a:xfrm>
            <a:off x="365760" y="65836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02920" y="694944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5F666D"/>
                </a:solidFill>
                <a:latin typeface="Arial"/>
              </a:rPr>
              <a:t>1,416 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155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222A"/>
                </a:solidFill>
                <a:latin typeface="Arial"/>
              </a:rPr>
              <a:t>Capacidad útil actual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(bruto 1,513 gal, estudio OEM)</a:t>
            </a:r>
          </a:p>
        </p:txBody>
      </p:sp>
      <p:sp>
        <p:nvSpPr>
          <p:cNvPr id="9" name="KPI 2"/>
          <p:cNvSpPr/>
          <p:nvPr/>
        </p:nvSpPr>
        <p:spPr>
          <a:xfrm>
            <a:off x="3200400" y="65836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37560" y="694944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E67700"/>
                </a:solidFill>
                <a:latin typeface="Arial"/>
              </a:rPr>
              <a:t>1,585 gal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1155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222A"/>
                </a:solidFill>
                <a:latin typeface="Arial"/>
              </a:rPr>
              <a:t>Propuesta OEM +220 mm posterior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93% de la meta: no alcanza</a:t>
            </a:r>
          </a:p>
        </p:txBody>
      </p:sp>
      <p:sp>
        <p:nvSpPr>
          <p:cNvPr id="12" name="KPI 3"/>
          <p:cNvSpPr/>
          <p:nvPr/>
        </p:nvSpPr>
        <p:spPr>
          <a:xfrm>
            <a:off x="6035040" y="65836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72200" y="694944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400" b="1" i="0">
                <a:solidFill>
                  <a:srgbClr val="13099A"/>
                </a:solidFill>
                <a:latin typeface="Arial"/>
              </a:rPr>
              <a:t>1,700 gal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115568"/>
            <a:ext cx="237744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B222A"/>
                </a:solidFill>
                <a:latin typeface="Arial"/>
              </a:rPr>
              <a:t>Meta útil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+20% de autonomía entre recargas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1755648"/>
          <a:ext cx="8412480" cy="1554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2960"/>
                <a:gridCol w="3246120"/>
                <a:gridCol w="1051560"/>
                <a:gridCol w="868680"/>
                <a:gridCol w="1188720"/>
                <a:gridCol w="123444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Propuesta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Tramos añadidos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Cap. útil (gal)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vs actual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Base–piso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</a:rPr>
                        <a:t>Frente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3099A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Inferior 300 mm + caja posterior 300 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E67700"/>
                          </a:solidFill>
                          <a:latin typeface="Arial"/>
                        </a:rPr>
                        <a:t>1,696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+19.8%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C92A2A"/>
                          </a:solidFill>
                          <a:latin typeface="Arial"/>
                        </a:rPr>
                        <a:t>−300 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B8A3E"/>
                          </a:solidFill>
                          <a:latin typeface="Arial"/>
                        </a:rPr>
                        <a:t>Sin cambio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3099A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Inferior 300 mm + superior 150 mm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B222A"/>
                          </a:solidFill>
                          <a:latin typeface="Arial"/>
                        </a:rPr>
                        <a:t>1,722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+21.6%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C92A2A"/>
                          </a:solidFill>
                          <a:latin typeface="Arial"/>
                        </a:rPr>
                        <a:t>−300 mm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B8A3E"/>
                          </a:solidFill>
                          <a:latin typeface="Arial"/>
                        </a:rPr>
                        <a:t>Sin cambio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3099A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Posterior 220 mm + superior 160 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B222A"/>
                          </a:solidFill>
                          <a:latin typeface="Arial"/>
                        </a:rPr>
                        <a:t>1,708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+20.6%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B8A3E"/>
                          </a:solidFill>
                          <a:latin typeface="Arial"/>
                        </a:rPr>
                        <a:t>Sin cambio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B8A3E"/>
                          </a:solidFill>
                          <a:latin typeface="Arial"/>
                        </a:rPr>
                        <a:t>Sin cambio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3099A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Posterior 220 mm + lateral exterior 180 mm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B222A"/>
                          </a:solidFill>
                          <a:latin typeface="Arial"/>
                        </a:rPr>
                        <a:t>1,705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B222A"/>
                          </a:solidFill>
                          <a:latin typeface="Arial"/>
                        </a:rPr>
                        <a:t>+20.4%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B8A3E"/>
                          </a:solidFill>
                          <a:latin typeface="Arial"/>
                        </a:rPr>
                        <a:t>Sin cambio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B8A3E"/>
                          </a:solidFill>
                          <a:latin typeface="Arial"/>
                        </a:rPr>
                        <a:t>Sin cambio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</a:tr>
            </a:tbl>
          </a:graphicData>
        </a:graphic>
      </p:graphicFrame>
      <p:sp>
        <p:nvSpPr>
          <p:cNvPr id="16" name="Recomendación"/>
          <p:cNvSpPr/>
          <p:nvPr/>
        </p:nvSpPr>
        <p:spPr>
          <a:xfrm>
            <a:off x="365760" y="3520440"/>
            <a:ext cx="8412480" cy="1097280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3584448"/>
            <a:ext cx="8046720" cy="98755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3099A"/>
                </a:solidFill>
                <a:latin typeface="Arial"/>
              </a:rPr>
              <a:t>Recomendación: P3 </a:t>
            </a:r>
            <a:r>
              <a:rPr sz="1200" b="0" i="0">
                <a:solidFill>
                  <a:srgbClr val="1B222A"/>
                </a:solidFill>
                <a:latin typeface="Arial"/>
              </a:rPr>
              <a:t>— crece solo hacia atrás (dentro de la envolvente ya revisada por OEM) y hacia arriba; no toca el fondo ni el frente.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B222A"/>
                </a:solidFill>
                <a:latin typeface="Arial"/>
              </a:rPr>
              <a:t>P4 es la alternativa si no hay holgura superior. P1 y P2 reducen la altura base–piso en 300 mm (≈1.21 → 0.91 m) y requieren validación adicional.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F666D"/>
                </a:solidFill>
                <a:latin typeface="Arial"/>
              </a:rPr>
              <a:t>Capacidad útil = volumen bruto − volumen bajo pickup − espacio sobre sensor de llenado (criterio del estudio OEM 1400 Gal).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Estado actual del tanque y contexto operacional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6" name="Picture 5" descr="foto_later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58368"/>
            <a:ext cx="4343400" cy="3002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706506"/>
            <a:ext cx="4343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Medición en campo, vista lateral LH: izquierda = llanta posterior, derecha = llanta delantera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92040" y="658368"/>
          <a:ext cx="3886200" cy="2962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876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Dato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Capacidad nominal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1,400 gal (útil 1,416 / bruto 1,513)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Dimensiones exteriores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2,292 ancho × 1,321/1,040 largo × 2,292 alto mm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Huella interior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2.57 m² → 68 gal por cada 100 mm de altura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Holgura a llanta posterior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900 mm (eje) · 1,650 mm (parte superior)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Holgura a llanta delantera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700 mm (eje) · 1,450 mm (parte superior)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Espacio posterior libre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450 mm al brazo · mín. 550 mm faldón–llanta</a:t>
                      </a:r>
                    </a:p>
                  </a:txBody>
                  <a:tcPr marL="45720" marR="45720" marT="18288" marB="18288" anchor="ctr">
                    <a:solidFill>
                      <a:srgbClr val="F1F3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Altura base–piso (estimada)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≈1.21 m (1,605 mm de tope a eje)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Propuesta OEM (PSG EDT)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+220 mm hacia atrás → 1,585 gal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9" name="Brecha"/>
          <p:cNvSpPr/>
          <p:nvPr/>
        </p:nvSpPr>
        <p:spPr>
          <a:xfrm>
            <a:off x="4892040" y="3749039"/>
            <a:ext cx="3886200" cy="868680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029200" y="3785615"/>
            <a:ext cx="365760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E8590C"/>
                </a:solidFill>
                <a:latin typeface="Arial"/>
              </a:rPr>
              <a:t>Brecha: </a:t>
            </a:r>
            <a:r>
              <a:rPr sz="1100" b="0" i="0">
                <a:solidFill>
                  <a:srgbClr val="1B222A"/>
                </a:solidFill>
                <a:latin typeface="Arial"/>
              </a:rPr>
              <a:t>la extensión OEM llega a 1,585 gal útiles. Para la meta se necesitan </a:t>
            </a:r>
            <a:r>
              <a:rPr sz="1100" b="1" i="0">
                <a:solidFill>
                  <a:srgbClr val="1B222A"/>
                </a:solidFill>
                <a:latin typeface="Arial"/>
              </a:rPr>
              <a:t>~115 gal adicionales</a:t>
            </a:r>
            <a:r>
              <a:rPr sz="1100" b="0" i="0">
                <a:solidFill>
                  <a:srgbClr val="1B222A"/>
                </a:solidFill>
                <a:latin typeface="Arial"/>
              </a:rPr>
              <a:t> sin crecer hacia la llanta delantera.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Criterios de diseño y galones ganados por tramo añadido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6" name="Criterio 1"/>
          <p:cNvSpPr/>
          <p:nvPr/>
        </p:nvSpPr>
        <p:spPr>
          <a:xfrm>
            <a:off x="365760" y="713232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02920" y="932688"/>
            <a:ext cx="420624" cy="420624"/>
          </a:xfrm>
          <a:prstGeom prst="ellipse">
            <a:avLst/>
          </a:prstGeom>
          <a:solidFill>
            <a:srgbClr val="130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786384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No crecer hacia la llanta delantera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Se mantiene la holgura actual de 700 mm (giro y dirección).</a:t>
            </a:r>
          </a:p>
        </p:txBody>
      </p:sp>
      <p:sp>
        <p:nvSpPr>
          <p:cNvPr id="9" name="Criterio 2"/>
          <p:cNvSpPr/>
          <p:nvPr/>
        </p:nvSpPr>
        <p:spPr>
          <a:xfrm>
            <a:off x="365760" y="1700784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502920" y="1920240"/>
            <a:ext cx="420624" cy="420624"/>
          </a:xfrm>
          <a:prstGeom prst="ellipse">
            <a:avLst/>
          </a:prstGeom>
          <a:solidFill>
            <a:srgbClr val="130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773936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Mantener la altura base–piso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La base actual queda a ≈1.21 m del piso; cualquier tramo inferior la reduce.</a:t>
            </a:r>
          </a:p>
        </p:txBody>
      </p:sp>
      <p:sp>
        <p:nvSpPr>
          <p:cNvPr id="12" name="Criterio 3"/>
          <p:cNvSpPr/>
          <p:nvPr/>
        </p:nvSpPr>
        <p:spPr>
          <a:xfrm>
            <a:off x="365760" y="2688336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502920" y="2907792"/>
            <a:ext cx="420624" cy="420624"/>
          </a:xfrm>
          <a:prstGeom prst="ellipse">
            <a:avLst/>
          </a:prstGeom>
          <a:solidFill>
            <a:srgbClr val="130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61488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Respetar la holgura posterior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Mín. 550 mm a la llanta; 450 mm disponibles al brazo (OEM usó 220 mm).</a:t>
            </a:r>
          </a:p>
        </p:txBody>
      </p:sp>
      <p:sp>
        <p:nvSpPr>
          <p:cNvPr id="15" name="Criterio 4"/>
          <p:cNvSpPr/>
          <p:nvPr/>
        </p:nvSpPr>
        <p:spPr>
          <a:xfrm>
            <a:off x="365760" y="3675888"/>
            <a:ext cx="3977639" cy="868680"/>
          </a:xfrm>
          <a:prstGeom prst="roundRect">
            <a:avLst>
              <a:gd name="adj" fmla="val 8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502920" y="3895344"/>
            <a:ext cx="420624" cy="420624"/>
          </a:xfrm>
          <a:prstGeom prst="ellipse">
            <a:avLst/>
          </a:prstGeom>
          <a:solidFill>
            <a:srgbClr val="130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749040"/>
            <a:ext cx="320040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Meta ≥1,700 gal útiles</a:t>
            </a:r>
          </a:p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Descontando el volumen bajo el pickup y sobre el sensor de llenado.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0" y="960120"/>
          <a:ext cx="42062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0" y="658368"/>
            <a:ext cx="420624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3099A"/>
                </a:solidFill>
                <a:latin typeface="Arial"/>
              </a:rPr>
              <a:t>Galones brutos ganados por cada 100 mm añadidos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2452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Crecer hacia atrás rinde más por milímetro porque esa cara del tanque es la de mayor área (≈2.2 m de ancho × 2.24 m de alto).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P1 · Tramo inferior 300 mm + caja posterior superior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pic>
        <p:nvPicPr>
          <p:cNvPr id="6" name="Picture 5" descr="c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21792"/>
            <a:ext cx="4251960" cy="28822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2361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666D"/>
                </a:solidFill>
                <a:latin typeface="Arial"/>
              </a:rPr>
              <a:t>Modelo 3D adjunto: Tanque_980E5_P1.step  ·  en naranja: tramo añadido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96681"/>
            <a:ext cx="4114800" cy="8850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B8A3E"/>
                </a:solidFill>
                <a:latin typeface="Arial"/>
              </a:rPr>
              <a:t>Ventaja: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No modifica el techo ni la cara exterior.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2A2A"/>
                </a:solidFill>
                <a:latin typeface="Arial"/>
              </a:rPr>
              <a:t>Riesgo: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Reduce la altura libre. La parte de la caja sobre el sensor de llenado no se usa: llega a 1,696 gal (4 gal bajo la meta).</a:t>
            </a:r>
          </a:p>
        </p:txBody>
      </p:sp>
      <p:sp>
        <p:nvSpPr>
          <p:cNvPr id="9" name="Capacidad"/>
          <p:cNvSpPr/>
          <p:nvPr/>
        </p:nvSpPr>
        <p:spPr>
          <a:xfrm>
            <a:off x="4709160" y="658368"/>
            <a:ext cx="4069080" cy="786384"/>
          </a:xfrm>
          <a:prstGeom prst="roundRect">
            <a:avLst>
              <a:gd name="adj" fmla="val 8000"/>
            </a:avLst>
          </a:prstGeom>
          <a:solidFill>
            <a:srgbClr val="FF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676656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E67700"/>
                </a:solidFill>
                <a:latin typeface="Arial"/>
              </a:rPr>
              <a:t>1,696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69494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E67700"/>
                </a:solidFill>
                <a:latin typeface="Arial"/>
              </a:rPr>
              <a:t>gal útiles</a:t>
            </a:r>
          </a:p>
          <a:p>
            <a:pPr algn="l"/>
            <a:r>
              <a:rPr sz="1000" b="0" i="0">
                <a:solidFill>
                  <a:srgbClr val="1B222A"/>
                </a:solidFill>
                <a:latin typeface="Arial"/>
              </a:rPr>
              <a:t>+280 gal (+19.8%) vs actual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Bruto: 1,806 gal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09160" y="1554480"/>
          <a:ext cx="4069080" cy="131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/>
                <a:gridCol w="1005840"/>
                <a:gridCol w="548640"/>
                <a:gridCol w="548640"/>
                <a:gridCol w="5486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Tramo añadido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Aumento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bruto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útil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gal/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100mm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inferior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+300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abajo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Caja posterior superior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300 × 1384 × ~1000 mm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+89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29.7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+293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590C"/>
                          </a:solidFill>
                          <a:latin typeface="Arial"/>
                        </a:rPr>
                        <a:t>+280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4727448" y="3118103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Frente: sin cambio (holgura de 700 mm intacta)</a:t>
            </a:r>
          </a:p>
        </p:txBody>
      </p:sp>
      <p:sp>
        <p:nvSpPr>
          <p:cNvPr id="15" name="Oval 14"/>
          <p:cNvSpPr/>
          <p:nvPr/>
        </p:nvSpPr>
        <p:spPr>
          <a:xfrm>
            <a:off x="4727448" y="3520439"/>
            <a:ext cx="219456" cy="219456"/>
          </a:xfrm>
          <a:prstGeom prst="ellipse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3814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Base–piso: baja 300 mm (≈1.21 → 0.91 m)</a:t>
            </a:r>
          </a:p>
        </p:txBody>
      </p:sp>
      <p:sp>
        <p:nvSpPr>
          <p:cNvPr id="17" name="Oval 16"/>
          <p:cNvSpPr/>
          <p:nvPr/>
        </p:nvSpPr>
        <p:spPr>
          <a:xfrm>
            <a:off x="4727448" y="3922776"/>
            <a:ext cx="219456" cy="219456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Caja de 300 mm hacia atrás: quedan ~150 mm al brazo (hay 450 mm)</a:t>
            </a:r>
          </a:p>
        </p:txBody>
      </p:sp>
      <p:sp>
        <p:nvSpPr>
          <p:cNvPr id="19" name="Oval 18"/>
          <p:cNvSpPr/>
          <p:nvPr/>
        </p:nvSpPr>
        <p:spPr>
          <a:xfrm>
            <a:off x="4727448" y="4325112"/>
            <a:ext cx="219456" cy="219456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428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Reubicar el pickup y el sensor de nivel al nuevo fondo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P2 · Tramo inferior 300 mm + tramo superior 150 mm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pic>
        <p:nvPicPr>
          <p:cNvPr id="6" name="Picture 5" descr="c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21792"/>
            <a:ext cx="4251960" cy="28822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2361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666D"/>
                </a:solidFill>
                <a:latin typeface="Arial"/>
              </a:rPr>
              <a:t>Modelo 3D adjunto: Tanque_980E5_P2.step  ·  en naranja: tramo añadido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96681"/>
            <a:ext cx="4114800" cy="8850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B8A3E"/>
                </a:solidFill>
                <a:latin typeface="Arial"/>
              </a:rPr>
              <a:t>Ventaja: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La mayor capacidad (1,722 gal) con bandas simples en todo el perímetro.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2A2A"/>
                </a:solidFill>
                <a:latin typeface="Arial"/>
              </a:rPr>
              <a:t>Riesgo: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Reduce la altura libre y modifica el tanque arriba y abajo.</a:t>
            </a:r>
          </a:p>
        </p:txBody>
      </p:sp>
      <p:sp>
        <p:nvSpPr>
          <p:cNvPr id="9" name="Capacidad"/>
          <p:cNvSpPr/>
          <p:nvPr/>
        </p:nvSpPr>
        <p:spPr>
          <a:xfrm>
            <a:off x="4709160" y="658368"/>
            <a:ext cx="4069080" cy="786384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676656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3099A"/>
                </a:solidFill>
                <a:latin typeface="Arial"/>
              </a:rPr>
              <a:t>1,722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69494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13099A"/>
                </a:solidFill>
                <a:latin typeface="Arial"/>
              </a:rPr>
              <a:t>gal útiles</a:t>
            </a:r>
          </a:p>
          <a:p>
            <a:pPr algn="l"/>
            <a:r>
              <a:rPr sz="1000" b="0" i="0">
                <a:solidFill>
                  <a:srgbClr val="1B222A"/>
                </a:solidFill>
                <a:latin typeface="Arial"/>
              </a:rPr>
              <a:t>+306 gal (+21.6%) vs actual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Bruto: 1,819 gal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09160" y="1554480"/>
          <a:ext cx="4069080" cy="131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/>
                <a:gridCol w="1005840"/>
                <a:gridCol w="548640"/>
                <a:gridCol w="548640"/>
                <a:gridCol w="5486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Tramo añadido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Aumento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bruto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útil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gal/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100mm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inferior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+300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abajo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+204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superior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+150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arriba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+102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68.0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+306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590C"/>
                          </a:solidFill>
                          <a:latin typeface="Arial"/>
                        </a:rPr>
                        <a:t>+306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4727448" y="3118103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Frente: sin cambio (holgura de 700 mm intacta)</a:t>
            </a:r>
          </a:p>
        </p:txBody>
      </p:sp>
      <p:sp>
        <p:nvSpPr>
          <p:cNvPr id="15" name="Oval 14"/>
          <p:cNvSpPr/>
          <p:nvPr/>
        </p:nvSpPr>
        <p:spPr>
          <a:xfrm>
            <a:off x="4727448" y="3520439"/>
            <a:ext cx="219456" cy="219456"/>
          </a:xfrm>
          <a:prstGeom prst="ellipse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3814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Base–piso: baja 300 mm (≈1.21 → 0.91 m)</a:t>
            </a:r>
          </a:p>
        </p:txBody>
      </p:sp>
      <p:sp>
        <p:nvSpPr>
          <p:cNvPr id="17" name="Oval 16"/>
          <p:cNvSpPr/>
          <p:nvPr/>
        </p:nvSpPr>
        <p:spPr>
          <a:xfrm>
            <a:off x="4727448" y="3922776"/>
            <a:ext cx="219456" cy="219456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Superior +150 mm: validar holgura bajo la plataforma y la tolva</a:t>
            </a:r>
          </a:p>
        </p:txBody>
      </p:sp>
      <p:sp>
        <p:nvSpPr>
          <p:cNvPr id="19" name="Oval 18"/>
          <p:cNvSpPr/>
          <p:nvPr/>
        </p:nvSpPr>
        <p:spPr>
          <a:xfrm>
            <a:off x="4727448" y="4325112"/>
            <a:ext cx="219456" cy="219456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428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Reubicar el pickup, el sensor jet y los venteos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P3 · Tramo posterior 220 mm + tramo superior 160 mm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pic>
        <p:nvPicPr>
          <p:cNvPr id="6" name="Picture 5" descr="c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21792"/>
            <a:ext cx="4251960" cy="28822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2361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666D"/>
                </a:solidFill>
                <a:latin typeface="Arial"/>
              </a:rPr>
              <a:t>Modelo 3D nuevo: Tanque_980E5_P3.step  ·  en naranja: tramo añadido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96681"/>
            <a:ext cx="4114800" cy="8850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B8A3E"/>
                </a:solidFill>
                <a:latin typeface="Arial"/>
              </a:rPr>
              <a:t>Ventaja: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Usa la extensión posterior que OEM ya revisó en campo y solo le suma un tramo superior.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2A2A"/>
                </a:solidFill>
                <a:latin typeface="Arial"/>
              </a:rPr>
              <a:t>Riesgo: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Requiere confirmar 160 mm libres sobre el tanque.</a:t>
            </a:r>
          </a:p>
        </p:txBody>
      </p:sp>
      <p:sp>
        <p:nvSpPr>
          <p:cNvPr id="9" name="Capacidad"/>
          <p:cNvSpPr/>
          <p:nvPr/>
        </p:nvSpPr>
        <p:spPr>
          <a:xfrm>
            <a:off x="4709160" y="658368"/>
            <a:ext cx="4069080" cy="786384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676656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3099A"/>
                </a:solidFill>
                <a:latin typeface="Arial"/>
              </a:rPr>
              <a:t>1,708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69494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13099A"/>
                </a:solidFill>
                <a:latin typeface="Arial"/>
              </a:rPr>
              <a:t>gal útiles</a:t>
            </a:r>
          </a:p>
          <a:p>
            <a:pPr algn="l"/>
            <a:r>
              <a:rPr sz="1000" b="0" i="0">
                <a:solidFill>
                  <a:srgbClr val="1B222A"/>
                </a:solidFill>
                <a:latin typeface="Arial"/>
              </a:rPr>
              <a:t>+292 gal (+20.6%) vs actual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Bruto: 1,817 gal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09160" y="1554480"/>
          <a:ext cx="4069080" cy="131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/>
                <a:gridCol w="1005840"/>
                <a:gridCol w="548640"/>
                <a:gridCol w="548640"/>
                <a:gridCol w="5486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Tramo añadido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Aumento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bruto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útil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gal/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100mm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posterior (envolvente OEM)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+220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atrás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82.5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superior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+160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arriba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+122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76.1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+303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590C"/>
                          </a:solidFill>
                          <a:latin typeface="Arial"/>
                        </a:rPr>
                        <a:t>+292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4727448" y="3118103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Frente: sin cambio (holgura de 700 mm intacta)</a:t>
            </a:r>
          </a:p>
        </p:txBody>
      </p:sp>
      <p:sp>
        <p:nvSpPr>
          <p:cNvPr id="15" name="Oval 14"/>
          <p:cNvSpPr/>
          <p:nvPr/>
        </p:nvSpPr>
        <p:spPr>
          <a:xfrm>
            <a:off x="4727448" y="3520439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3814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Base–piso: sin cambio (≈1.21 m)</a:t>
            </a:r>
          </a:p>
        </p:txBody>
      </p:sp>
      <p:sp>
        <p:nvSpPr>
          <p:cNvPr id="17" name="Oval 16"/>
          <p:cNvSpPr/>
          <p:nvPr/>
        </p:nvSpPr>
        <p:spPr>
          <a:xfrm>
            <a:off x="4727448" y="3922776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Atrás 220 mm: quedan 680 mm a la llanta (≥550) y 230 mm al brazo (OEM)</a:t>
            </a:r>
          </a:p>
        </p:txBody>
      </p:sp>
      <p:sp>
        <p:nvSpPr>
          <p:cNvPr id="19" name="Oval 18"/>
          <p:cNvSpPr/>
          <p:nvPr/>
        </p:nvSpPr>
        <p:spPr>
          <a:xfrm>
            <a:off x="4727448" y="4325112"/>
            <a:ext cx="219456" cy="219456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428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Superior +160 mm: validar holgura; subir sensor jet y venteos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P4 · Tramo posterior 220 mm + tramo lateral exterior 180 mm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6" name="Picture 5" descr="c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21792"/>
            <a:ext cx="4251960" cy="28822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522361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666D"/>
                </a:solidFill>
                <a:latin typeface="Arial"/>
              </a:rPr>
              <a:t>Modelo 3D nuevo: Tanque_980E5_P4.step  ·  en naranja: tramo añadido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796681"/>
            <a:ext cx="4114800" cy="8850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B8A3E"/>
                </a:solidFill>
                <a:latin typeface="Arial"/>
              </a:rPr>
              <a:t>Ventaja: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Conserva el techo y el fondo originales: los sensores de nivel y llenado no cambian de altura.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C92A2A"/>
                </a:solidFill>
                <a:latin typeface="Arial"/>
              </a:rPr>
              <a:t>Riesgo: </a:t>
            </a:r>
            <a:r>
              <a:rPr sz="1050" b="0" i="0">
                <a:solidFill>
                  <a:srgbClr val="1B222A"/>
                </a:solidFill>
                <a:latin typeface="Arial"/>
              </a:rPr>
              <a:t>Usa espacio lateral exterior; mueve los accesorios de la cara exterior.</a:t>
            </a:r>
          </a:p>
        </p:txBody>
      </p:sp>
      <p:sp>
        <p:nvSpPr>
          <p:cNvPr id="9" name="Capacidad"/>
          <p:cNvSpPr/>
          <p:nvPr/>
        </p:nvSpPr>
        <p:spPr>
          <a:xfrm>
            <a:off x="4709160" y="658368"/>
            <a:ext cx="4069080" cy="786384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46320" y="676656"/>
            <a:ext cx="2011680" cy="7498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3099A"/>
                </a:solidFill>
                <a:latin typeface="Arial"/>
              </a:rPr>
              <a:t>1,705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694944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1" i="0">
                <a:solidFill>
                  <a:srgbClr val="13099A"/>
                </a:solidFill>
                <a:latin typeface="Arial"/>
              </a:rPr>
              <a:t>gal útiles</a:t>
            </a:r>
          </a:p>
          <a:p>
            <a:pPr algn="l"/>
            <a:r>
              <a:rPr sz="1000" b="0" i="0">
                <a:solidFill>
                  <a:srgbClr val="1B222A"/>
                </a:solidFill>
                <a:latin typeface="Arial"/>
              </a:rPr>
              <a:t>+289 gal (+20.4%) vs actual</a:t>
            </a:r>
          </a:p>
          <a:p>
            <a:pPr algn="l"/>
            <a:r>
              <a:rPr sz="1000" b="0" i="0">
                <a:solidFill>
                  <a:srgbClr val="5F666D"/>
                </a:solidFill>
                <a:latin typeface="Arial"/>
              </a:rPr>
              <a:t>Bruto: 1,822 gal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09160" y="1554480"/>
          <a:ext cx="4069080" cy="1316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/>
                <a:gridCol w="1005840"/>
                <a:gridCol w="548640"/>
                <a:gridCol w="548640"/>
                <a:gridCol w="5486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Tramo añadido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Aumento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bruto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+gal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útil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gal/</a:t>
                      </a:r>
                    </a:p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100mm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posterior (envolvente OEM)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+220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atrás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+181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+170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82.5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Tramo lateral exterior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+180 mm</a:t>
                      </a:r>
                    </a:p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hacia afuera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+128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+119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73.6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B222A"/>
                          </a:solidFill>
                          <a:latin typeface="Arial"/>
                        </a:rPr>
                        <a:t>+309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E8590C"/>
                          </a:solidFill>
                          <a:latin typeface="Arial"/>
                        </a:rPr>
                        <a:t>+289</a:t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13" name="Oval 12"/>
          <p:cNvSpPr/>
          <p:nvPr/>
        </p:nvSpPr>
        <p:spPr>
          <a:xfrm>
            <a:off x="4727448" y="3118103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Frente: sin cambio (holgura de 700 mm intacta)</a:t>
            </a:r>
          </a:p>
        </p:txBody>
      </p:sp>
      <p:sp>
        <p:nvSpPr>
          <p:cNvPr id="15" name="Oval 14"/>
          <p:cNvSpPr/>
          <p:nvPr/>
        </p:nvSpPr>
        <p:spPr>
          <a:xfrm>
            <a:off x="4727448" y="3520439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438144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Base–piso: sin cambio (≈1.21 m)</a:t>
            </a:r>
          </a:p>
        </p:txBody>
      </p:sp>
      <p:sp>
        <p:nvSpPr>
          <p:cNvPr id="17" name="Oval 16"/>
          <p:cNvSpPr/>
          <p:nvPr/>
        </p:nvSpPr>
        <p:spPr>
          <a:xfrm>
            <a:off x="4727448" y="3922776"/>
            <a:ext cx="219456" cy="219456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840480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Atrás 220 mm: quedan 680 mm a la llanta (≥550) y 230 mm al brazo (OEM)</a:t>
            </a:r>
          </a:p>
        </p:txBody>
      </p:sp>
      <p:sp>
        <p:nvSpPr>
          <p:cNvPr id="19" name="Oval 18"/>
          <p:cNvSpPr/>
          <p:nvPr/>
        </p:nvSpPr>
        <p:spPr>
          <a:xfrm>
            <a:off x="4727448" y="4325112"/>
            <a:ext cx="219456" cy="219456"/>
          </a:xfrm>
          <a:prstGeom prst="ellipse">
            <a:avLst/>
          </a:prstGeom>
          <a:solidFill>
            <a:srgbClr val="E6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242816"/>
            <a:ext cx="3749039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50" b="0" i="0">
                <a:solidFill>
                  <a:srgbClr val="1B222A"/>
                </a:solidFill>
                <a:latin typeface="Arial"/>
              </a:rPr>
              <a:t>Lateral +180 mm: validar ancho, accesos y escalera; reubicar boca de llenado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Verificación de altura base–piso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pic>
        <p:nvPicPr>
          <p:cNvPr id="6" name="Picture 5" descr="side_clea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8412480" cy="175894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2417310"/>
            <a:ext cx="84124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666D"/>
                </a:solidFill>
                <a:latin typeface="Arial"/>
              </a:rPr>
              <a:t>Vista lateral esquemática a escala (m). Gris: tanque actual · Naranja: tramo añadido · Cotas en mm: holgura a llantas a la altura del eje.</a:t>
            </a:r>
          </a:p>
        </p:txBody>
      </p:sp>
      <p:sp>
        <p:nvSpPr>
          <p:cNvPr id="8" name="Confirmado"/>
          <p:cNvSpPr/>
          <p:nvPr/>
        </p:nvSpPr>
        <p:spPr>
          <a:xfrm>
            <a:off x="365760" y="2728206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EBF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02920" y="2856222"/>
            <a:ext cx="274320" cy="274320"/>
          </a:xfrm>
          <a:prstGeom prst="ellipse">
            <a:avLst/>
          </a:prstGeom>
          <a:solidFill>
            <a:srgbClr val="2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19646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2B8A3E"/>
                </a:solidFill>
                <a:latin typeface="Arial"/>
              </a:rPr>
              <a:t>P3 y P4: confirmado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222A"/>
                </a:solidFill>
                <a:latin typeface="Arial"/>
              </a:rPr>
              <a:t>La base queda donde está (≈1.21 m). Se crece solo hacia atrás, arriba o afuera, y la holgura de 700 mm a la llanta delantera se mantiene.</a:t>
            </a:r>
          </a:p>
        </p:txBody>
      </p:sp>
      <p:sp>
        <p:nvSpPr>
          <p:cNvPr id="11" name="No confirmado"/>
          <p:cNvSpPr/>
          <p:nvPr/>
        </p:nvSpPr>
        <p:spPr>
          <a:xfrm>
            <a:off x="4663440" y="2728206"/>
            <a:ext cx="4114800" cy="1417320"/>
          </a:xfrm>
          <a:prstGeom prst="roundRect">
            <a:avLst>
              <a:gd name="adj" fmla="val 8000"/>
            </a:avLst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800600" y="2856222"/>
            <a:ext cx="274320" cy="274320"/>
          </a:xfrm>
          <a:prstGeom prst="ellipse">
            <a:avLst/>
          </a:prstGeom>
          <a:solidFill>
            <a:srgbClr val="C9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819646"/>
            <a:ext cx="352044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C92A2A"/>
                </a:solidFill>
                <a:latin typeface="Arial"/>
              </a:rPr>
              <a:t>P1 y P2: no se puede confirmar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B222A"/>
                </a:solidFill>
                <a:latin typeface="Arial"/>
              </a:rPr>
              <a:t>El tramo inferior baja la base 300 mm (≈0.91 m). Se debe validar contra el punto más bajo del camión, la escalera y los soportes bajo el tanque, y el riesgo de impacto con rocas.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209534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50" b="0" i="0">
                <a:solidFill>
                  <a:srgbClr val="5F666D"/>
                </a:solidFill>
                <a:latin typeface="Arial"/>
              </a:rPr>
              <a:t>Altura estimada con la medición de campo (1,605 mm de tope a eje) y un radio bajo carga ≈1.90 m de la llanta 56/80R63. Confirmar con wincha en campo antes de liberar el diseño.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Comparativo de propuestas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914400"/>
          <a:ext cx="38404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8368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13099A"/>
                </a:solidFill>
                <a:latin typeface="Arial"/>
              </a:rPr>
              <a:t>Capacidad útil (gal) · meta 1,700 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15968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0">
                <a:solidFill>
                  <a:srgbClr val="5F666D"/>
                </a:solidFill>
                <a:latin typeface="Arial"/>
              </a:rPr>
              <a:t>Eje desde 1,200 gal. En azul la propuesta recomendada.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43400" y="713232"/>
          <a:ext cx="4434839" cy="30083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19"/>
                <a:gridCol w="640080"/>
                <a:gridCol w="640080"/>
                <a:gridCol w="640080"/>
                <a:gridCol w="640080"/>
              </a:tblGrid>
              <a:tr h="429768"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P2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P3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P4</a:t>
                      </a:r>
                    </a:p>
                  </a:txBody>
                  <a:tcPr marL="45720" marR="45720" marT="18288" marB="18288" anchor="ctr">
                    <a:solidFill>
                      <a:srgbClr val="13099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Capacidad útil ≥1,700 gal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E67700"/>
                          </a:solidFill>
                          <a:latin typeface="Arial"/>
                        </a:rPr>
                        <a:t>≈ (1,696)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E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No crece hacia la llanta delantera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E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Altura base–piso sin cambio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92A2A"/>
                          </a:solidFill>
                          <a:latin typeface="Arial"/>
                        </a:rPr>
                        <a:t>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92A2A"/>
                          </a:solidFill>
                          <a:latin typeface="Arial"/>
                        </a:rPr>
                        <a:t>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E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Holgura posterior ≥550 mm a llanta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E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Sensores sin cambio de altura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92A2A"/>
                          </a:solidFill>
                          <a:latin typeface="Arial"/>
                        </a:rPr>
                        <a:t>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C92A2A"/>
                          </a:solidFill>
                          <a:latin typeface="Arial"/>
                        </a:rPr>
                        <a:t>✕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E67700"/>
                          </a:solidFill>
                          <a:latin typeface="Arial"/>
                        </a:rPr>
                        <a:t>!</a:t>
                      </a:r>
                    </a:p>
                  </a:txBody>
                  <a:tcPr marL="45720" marR="45720" marT="18288" marB="18288" anchor="ctr">
                    <a:solidFill>
                      <a:srgbClr val="E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2B8A3E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B222A"/>
                          </a:solidFill>
                          <a:latin typeface="Arial"/>
                        </a:rPr>
                        <a:t>Validación de campo pendiente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Altura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libre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Altura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libre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Holgura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superior</a:t>
                      </a:r>
                    </a:p>
                  </a:txBody>
                  <a:tcPr marL="45720" marR="45720" marT="18288" marB="18288" anchor="ctr">
                    <a:solidFill>
                      <a:srgbClr val="ECEB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Ancho y</a:t>
                      </a:r>
                    </a:p>
                    <a:p>
                      <a:pPr algn="ctr"/>
                      <a:r>
                        <a:rPr sz="900" b="0" i="0">
                          <a:solidFill>
                            <a:srgbClr val="1B222A"/>
                          </a:solidFill>
                          <a:latin typeface="Arial"/>
                        </a:rPr>
                        <a:t>accesos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343400" y="42245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2B8A3E"/>
                </a:solidFill>
                <a:latin typeface="Arial"/>
              </a:rPr>
              <a:t>✓</a:t>
            </a:r>
            <a:r>
              <a:rPr sz="1000" b="0" i="0">
                <a:solidFill>
                  <a:srgbClr val="5F666D"/>
                </a:solidFill>
                <a:latin typeface="Arial"/>
              </a:rPr>
              <a:t> cumple   </a:t>
            </a:r>
            <a:r>
              <a:rPr sz="1000" b="1" i="0">
                <a:solidFill>
                  <a:srgbClr val="E67700"/>
                </a:solidFill>
                <a:latin typeface="Arial"/>
              </a:rPr>
              <a:t>!</a:t>
            </a:r>
            <a:r>
              <a:rPr sz="1000" b="0" i="0">
                <a:solidFill>
                  <a:srgbClr val="5F666D"/>
                </a:solidFill>
                <a:latin typeface="Arial"/>
              </a:rPr>
              <a:t> requiere ajuste menor   </a:t>
            </a:r>
            <a:r>
              <a:rPr sz="1000" b="1" i="0">
                <a:solidFill>
                  <a:srgbClr val="C92A2A"/>
                </a:solidFill>
                <a:latin typeface="Arial"/>
              </a:rPr>
              <a:t>✕</a:t>
            </a:r>
            <a:r>
              <a:rPr sz="1000" b="0" i="0">
                <a:solidFill>
                  <a:srgbClr val="5F666D"/>
                </a:solidFill>
                <a:latin typeface="Arial"/>
              </a:rPr>
              <a:t> no cumple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ext cx="8915400" cy="0"/>
          </a:xfrm>
        </p:spPr>
        <p:txBody>
          <a:bodyPr/>
          <a:lstStyle/>
          <a:p>
            <a:r>
              <a:t>Recomendación y próximos pasos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Komatsu</a:t>
            </a:r>
            <a:r>
              <a:rPr spc="-35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dirty="0"/>
              <a:t>Mitsui </a:t>
            </a:r>
            <a:r>
              <a:rPr spc="-10" dirty="0"/>
              <a:t>Maquinarias</a:t>
            </a:r>
            <a:r>
              <a:rPr dirty="0"/>
              <a:t> Perú</a:t>
            </a:r>
            <a:r>
              <a:rPr spc="-10" dirty="0"/>
              <a:t> </a:t>
            </a:r>
            <a:r>
              <a:rPr spc="-20" dirty="0"/>
              <a:t>S.A.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Recomendación P3"/>
          <p:cNvSpPr/>
          <p:nvPr/>
        </p:nvSpPr>
        <p:spPr>
          <a:xfrm>
            <a:off x="365760" y="685800"/>
            <a:ext cx="3931920" cy="3931920"/>
          </a:xfrm>
          <a:prstGeom prst="roundRect">
            <a:avLst>
              <a:gd name="adj" fmla="val 8000"/>
            </a:avLst>
          </a:prstGeom>
          <a:solidFill>
            <a:srgbClr val="ECE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5F666D"/>
                </a:solidFill>
                <a:latin typeface="Arial"/>
              </a:rPr>
              <a:t>PROPUESTA RECOMENDADA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35661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13099A"/>
                </a:solidFill>
                <a:latin typeface="Arial"/>
              </a:rPr>
              <a:t>P3 · Posterior 220 mm + superior 160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3000" b="1" i="0">
                <a:solidFill>
                  <a:srgbClr val="13099A"/>
                </a:solidFill>
                <a:latin typeface="Arial"/>
              </a:rPr>
              <a:t>1,708</a:t>
            </a:r>
            <a:r>
              <a:rPr sz="1300" b="1" i="0">
                <a:solidFill>
                  <a:srgbClr val="13099A"/>
                </a:solidFill>
                <a:latin typeface="Arial"/>
              </a:rPr>
              <a:t> gal útiles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309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22A"/>
                </a:solidFill>
                <a:latin typeface="Arial"/>
              </a:rPr>
              <a:t>+292 gal (+21%) de autonomía entre recargas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309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22A"/>
                </a:solidFill>
                <a:latin typeface="Arial"/>
              </a:rPr>
              <a:t>Sin cambios hacia la llanta delantera ni en la altura base–piso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309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22A"/>
                </a:solidFill>
                <a:latin typeface="Arial"/>
              </a:rPr>
              <a:t>Parte de la extensión posterior que OEM ya revisó en campo (220 mm)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309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22A"/>
                </a:solidFill>
                <a:latin typeface="Arial"/>
              </a:rPr>
              <a:t>+0.9 t de combustible a tanque lleno (≈0.3% de la carga útil)</a:t>
            </a:r>
          </a:p>
          <a:p>
            <a:pPr algn="l">
              <a:spcAft>
                <a:spcPts val="600"/>
              </a:spcAft>
            </a:pPr>
            <a:r>
              <a:rPr sz="1150" b="1" i="0">
                <a:solidFill>
                  <a:srgbClr val="13099A"/>
                </a:solidFill>
                <a:latin typeface="Arial"/>
              </a:rPr>
              <a:t>•  </a:t>
            </a:r>
            <a:r>
              <a:rPr sz="1150" b="0" i="0">
                <a:solidFill>
                  <a:srgbClr val="1B222A"/>
                </a:solidFill>
                <a:latin typeface="Arial"/>
              </a:rPr>
              <a:t>Alternativa: P4, si no se confirma la holgura superior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0" y="804672"/>
            <a:ext cx="402336" cy="4023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713232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Validar en campo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Holgura superior (≥160 mm + margen) y altura base–piso real con wincha.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1591056"/>
            <a:ext cx="402336" cy="4023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99616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Revisar con OEM (PSG EDT)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Envolvente posterior, venteos, sensor jet y garantía.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2377440"/>
            <a:ext cx="402336" cy="4023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28600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Ingeniería de detalle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Planos de fabricación, FEA (presión hidrostática, vibración, soportes) y peso.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3163824"/>
            <a:ext cx="402336" cy="4023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072384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Prototipo y pruebas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Fabricación, prueba de estanqueidad y recalibración del sensor de nivel.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3950207"/>
            <a:ext cx="402336" cy="402336"/>
          </a:xfrm>
          <a:prstGeom prst="ellipse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858768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3099A"/>
                </a:solidFill>
                <a:latin typeface="Arial"/>
              </a:rPr>
              <a:t>Piloto en un camión</a:t>
            </a:r>
          </a:p>
          <a:p>
            <a:pPr algn="l">
              <a:spcAft>
                <a:spcPts val="100"/>
              </a:spcAft>
            </a:pPr>
            <a:r>
              <a:rPr sz="1050" b="0" i="0">
                <a:solidFill>
                  <a:srgbClr val="1B222A"/>
                </a:solidFill>
                <a:latin typeface="Arial"/>
              </a:rPr>
              <a:t>Seguimiento de fugas, fisuras y holguras antes de extender a la flota.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3698</Words>
  <Application>Microsoft Office PowerPoint</Application>
  <PresentationFormat>Presentación en pantalla (16:9)</PresentationFormat>
  <Paragraphs>2087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Times New Roman</vt:lpstr>
      <vt:lpstr>Office Theme</vt:lpstr>
      <vt:lpstr>Estado de Componentes Flota 980E–5 Semana 40</vt:lpstr>
      <vt:lpstr>Estado de Componentes</vt:lpstr>
      <vt:lpstr>Hotsheet General</vt:lpstr>
      <vt:lpstr>Hotsheet Componentes menores</vt:lpstr>
      <vt:lpstr>Estado de Motores Diesel</vt:lpstr>
      <vt:lpstr>Estado de Motores Diesel</vt:lpstr>
      <vt:lpstr>Estado de Motores de Tracción</vt:lpstr>
      <vt:lpstr>Estado de Motores de Tracción</vt:lpstr>
      <vt:lpstr>CM401: MT LH – Criticidad N2</vt:lpstr>
      <vt:lpstr>CM410: MT RH – Criticidad N2</vt:lpstr>
      <vt:lpstr>CM406: MT RH – Criticidad N2</vt:lpstr>
      <vt:lpstr>Estado de Ruedas Delanteras</vt:lpstr>
      <vt:lpstr>Estado de Ruedas Delanteras</vt:lpstr>
      <vt:lpstr>CM410: RD LH – Criticidad N3</vt:lpstr>
      <vt:lpstr>Estado de Sistema Hidráulico</vt:lpstr>
      <vt:lpstr>Ranking Sistema Hidráulico</vt:lpstr>
      <vt:lpstr>Estado de Cilindros de Dirección</vt:lpstr>
      <vt:lpstr>Estatus de cilindros de dirección</vt:lpstr>
      <vt:lpstr>Evidencia de cilindros de dirección</vt:lpstr>
      <vt:lpstr>Estado de Cilindros de suspensión posterior</vt:lpstr>
      <vt:lpstr>Estatus de cilindros de suspensión</vt:lpstr>
      <vt:lpstr>Estatus de cilindros de suspensión</vt:lpstr>
      <vt:lpstr>Seguimiento Estado de Blowers</vt:lpstr>
      <vt:lpstr>Estado de Blowers</vt:lpstr>
      <vt:lpstr>Estado de Cables de Potencia</vt:lpstr>
      <vt:lpstr>Estatus cables de potencia</vt:lpstr>
      <vt:lpstr>Estado de Vibración de Alternador</vt:lpstr>
      <vt:lpstr>Estado de vibración de rodamiento de alternador</vt:lpstr>
      <vt:lpstr>Estado de Frenos de Parqueo</vt:lpstr>
      <vt:lpstr>Desgaste de frenos de parqueo</vt:lpstr>
      <vt:lpstr>Estado de Bombas</vt:lpstr>
      <vt:lpstr>Estado de bomba de dirección</vt:lpstr>
      <vt:lpstr>Estado de bomba de levante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Humberto Vasquez Teran</dc:creator>
  <cp:lastModifiedBy>Samir Cedillo Preciado</cp:lastModifiedBy>
  <cp:revision>1</cp:revision>
  <dcterms:created xsi:type="dcterms:W3CDTF">2026-10-11T13:44:04Z</dcterms:created>
  <dcterms:modified xsi:type="dcterms:W3CDTF">2026-10-11T14:17:44Z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2026-10-10T00:00:00Z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2026-10-11T00:00:00Z</vt:filetime>
  </property>
  <property fmtid="{D5CDD505-2E9C-101B-9397-08002B2CF9AE}" pid="6" name="Producer">
    <vt:lpwstr>Microsoft® PowerPoint® para Microsoft 365</vt:lpwstr>
  </property>
</Properties>
</file>